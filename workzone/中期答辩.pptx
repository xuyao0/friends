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9" r:id="rId4"/>
    <p:sldId id="258" r:id="rId5"/>
    <p:sldId id="268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07"/>
    <p:restoredTop sz="94619"/>
  </p:normalViewPr>
  <p:slideViewPr>
    <p:cSldViewPr snapToGrid="0" snapToObjects="1">
      <p:cViewPr varScale="1">
        <p:scale>
          <a:sx n="183" d="100"/>
          <a:sy n="183" d="100"/>
        </p:scale>
        <p:origin x="2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479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加上老师姓名</a:t>
            </a:r>
            <a:r>
              <a:rPr lang="zh-CN" altLang="en-US" dirty="0"/>
              <a:t>，</a:t>
            </a:r>
            <a:r>
              <a:rPr lang="en-US" altLang="zh-CN" dirty="0"/>
              <a:t>ppt</a:t>
            </a:r>
            <a:r>
              <a:rPr lang="zh-CN" altLang="en-US" dirty="0"/>
              <a:t>页码标上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讲清楚过去的研究形态</a:t>
            </a:r>
            <a:r>
              <a:rPr lang="zh-CN" altLang="en-US" dirty="0"/>
              <a:t>，在现在有什么问题。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把传统方法的局限和文献调研合起来讲</a:t>
            </a:r>
            <a:r>
              <a:rPr lang="zh-CN" altLang="en-US" dirty="0"/>
              <a:t>。加入更相关的方法。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为什么要挑选长程依赖</a:t>
            </a:r>
            <a:r>
              <a:rPr lang="zh-CN" altLang="en-US" dirty="0"/>
              <a:t>，如何保证这个过程是可信的？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画图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放一页实验设置</a:t>
            </a:r>
            <a:r>
              <a:rPr lang="zh-CN" altLang="en-US" dirty="0"/>
              <a:t>，实验结果换表格。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加一页总结</a:t>
            </a:r>
            <a:r>
              <a:rPr lang="zh-CN" altLang="en-US" dirty="0"/>
              <a:t>，我的贡献。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3B82F6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457200"/>
            <a:ext cx="2560320" cy="2560320"/>
          </a:xfrm>
          <a:prstGeom prst="ellipse">
            <a:avLst/>
          </a:prstGeom>
          <a:solidFill>
            <a:srgbClr val="60A5FA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850392" y="3665284"/>
            <a:ext cx="2743200" cy="2743200"/>
          </a:xfrm>
          <a:prstGeom prst="ellipse">
            <a:avLst/>
          </a:prstGeom>
          <a:solidFill>
            <a:srgbClr val="14B8A6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64008" cy="2286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14400"/>
            <a:ext cx="7772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基于剧本叙事的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长期对话情感识别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基准与记忆增强 Agent 研究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3749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Friends 剧本 · 在线记忆 · Tool-calling Agent · 长程情绪理解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389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中期答辩  |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40233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960120"/>
            <a:ext cx="64008" cy="7498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521208" y="102412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005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</a:rPr>
              <a:t>任务定义</a:t>
            </a:r>
            <a:r>
              <a:rPr lang="zh-CN" alt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</a:rPr>
              <a:t>、研究背景与目标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3441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950" dirty="0" err="1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为什么研究长期对话情感识别</a:t>
            </a:r>
            <a:r>
              <a:rPr lang="en-US" altLang="zh-CN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altLang="zh-CN" sz="950" dirty="0"/>
          </a:p>
        </p:txBody>
      </p:sp>
      <p:sp>
        <p:nvSpPr>
          <p:cNvPr id="8" name="Shape 6"/>
          <p:cNvSpPr/>
          <p:nvPr/>
        </p:nvSpPr>
        <p:spPr>
          <a:xfrm>
            <a:off x="411480" y="1920240"/>
            <a:ext cx="40233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920240"/>
            <a:ext cx="64008" cy="7498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198424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1965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</a:rPr>
              <a:t>文献调研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3042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950" dirty="0"/>
              <a:t>Agent</a:t>
            </a:r>
            <a:r>
              <a:rPr lang="zh-CN" altLang="en-US" sz="950" dirty="0"/>
              <a:t>记忆 </a:t>
            </a:r>
            <a:r>
              <a:rPr lang="en-US" altLang="zh-CN" sz="950" dirty="0"/>
              <a:t>·</a:t>
            </a:r>
            <a:r>
              <a:rPr lang="zh-CN" altLang="en-US" sz="950" dirty="0"/>
              <a:t> 情感识别</a:t>
            </a:r>
            <a:endParaRPr lang="en-US" altLang="zh-CN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880360"/>
            <a:ext cx="40233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880360"/>
            <a:ext cx="64008" cy="7498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" y="29443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2926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数据集构建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2644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Friends 剧本 · 长期依赖筛选 · 标注方案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3840480"/>
            <a:ext cx="40233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3840480"/>
            <a:ext cx="64008" cy="7498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521208" y="390448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3886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情绪标签体系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42245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个情绪标签 · 强度标注 · 理论依据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960120"/>
            <a:ext cx="40233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960120"/>
            <a:ext cx="64008" cy="7498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4773168" y="102412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66360" y="1005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 Agent 架构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66360" y="13441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确定性外层 + Tool-calling 内层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1920240"/>
            <a:ext cx="40233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1920240"/>
            <a:ext cx="64008" cy="7498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0" name="Text 28"/>
          <p:cNvSpPr/>
          <p:nvPr/>
        </p:nvSpPr>
        <p:spPr>
          <a:xfrm>
            <a:off x="4773168" y="198424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66360" y="1965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记忆结构设计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66360" y="23042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人物状态 · 事件索引 · 详细事件 · 当前事件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63440" y="2880360"/>
            <a:ext cx="40233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2880360"/>
            <a:ext cx="64008" cy="7498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5" name="Text 33"/>
          <p:cNvSpPr/>
          <p:nvPr/>
        </p:nvSpPr>
        <p:spPr>
          <a:xfrm>
            <a:off x="4773168" y="29443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66360" y="2926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实验结果与分析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66360" y="32644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当前实验对比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63440" y="3840480"/>
            <a:ext cx="40233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63440" y="3840480"/>
            <a:ext cx="64008" cy="7498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0" name="Text 38"/>
          <p:cNvSpPr/>
          <p:nvPr/>
        </p:nvSpPr>
        <p:spPr>
          <a:xfrm>
            <a:off x="4773168" y="390448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166360" y="3886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研究贡献与后续计划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166360" y="42245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下一阶段工作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</a:t>
            </a:r>
            <a:r>
              <a:rPr lang="en-US" sz="1800" b="1" dirty="0" err="1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任务定义</a:t>
            </a:r>
            <a:r>
              <a:rPr lang="zh-CN" altLang="en-US" sz="18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、研究背景与目标</a:t>
            </a:r>
            <a:endParaRPr lang="en-US" sz="180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DB1B647-DBFF-88C9-E9A4-3287B145B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306" y="1090459"/>
            <a:ext cx="7433388" cy="347274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r>
              <a:rPr lang="en-US" altLang="zh-CN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r>
              <a:rPr lang="en-US" sz="18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r>
              <a:rPr lang="en-US" sz="1800" b="1" dirty="0" err="1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任务定义</a:t>
            </a:r>
            <a:r>
              <a:rPr lang="zh-CN" altLang="en-US" sz="18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800" b="1" dirty="0" err="1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研究背景与目标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11480" y="868680"/>
            <a:ext cx="4114800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868680"/>
            <a:ext cx="41148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9601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传统方法的局限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137160" cy="1371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18466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仅关注短上下文（当前句 / 前后若干轮）内的情绪判断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137160" cy="1371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876834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忽略长期人物关系、过往事件、未解决冲突的影响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761488"/>
            <a:ext cx="137160" cy="1371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535202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无法处理：讽刺掩饰痛苦、反常沉默源于冲突、玩笑隐藏内疚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419856"/>
            <a:ext cx="137160" cy="1371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193570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表面情绪 ≠ 说话人真实心理状态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9160" y="868680"/>
            <a:ext cx="4069080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868680"/>
            <a:ext cx="406908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960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长期情绪理解的关键因素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1463040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141732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人物关系历史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74920" y="1682496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恋情、冲突、裂痕、嫉妒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00600" y="2121408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5074920" y="207568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过往重要事件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74920" y="2340864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背叛、承诺、和解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00600" y="2779776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5074920" y="273405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稳定性格特质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74920" y="2999232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讽刺习惯、防御性、回避倾向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00600" y="3438144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5074920" y="339242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近期目标与压力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74920" y="365760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未解决的隐藏需求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4096512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5074920" y="405079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隐藏情绪与伪装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74920" y="4315968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以笑话掩盖恐惧、用沉默表达抵制</a:t>
            </a:r>
            <a:endParaRPr lang="en-US" sz="950" dirty="0"/>
          </a:p>
        </p:txBody>
      </p:sp>
      <p:sp>
        <p:nvSpPr>
          <p:cNvPr id="32" name="Shape 1">
            <a:extLst>
              <a:ext uri="{FF2B5EF4-FFF2-40B4-BE49-F238E27FC236}">
                <a16:creationId xmlns:a16="http://schemas.microsoft.com/office/drawing/2014/main" id="{06E2A773-7DC1-7422-F53C-85175616854C}"/>
              </a:ext>
            </a:extLst>
          </p:cNvPr>
          <p:cNvSpPr/>
          <p:nvPr/>
        </p:nvSpPr>
        <p:spPr>
          <a:xfrm>
            <a:off x="411480" y="868680"/>
            <a:ext cx="832104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3" name="Shape 2">
            <a:extLst>
              <a:ext uri="{FF2B5EF4-FFF2-40B4-BE49-F238E27FC236}">
                <a16:creationId xmlns:a16="http://schemas.microsoft.com/office/drawing/2014/main" id="{82AE1365-972B-A1DE-2DF4-0BA608D26EAF}"/>
              </a:ext>
            </a:extLst>
          </p:cNvPr>
          <p:cNvSpPr/>
          <p:nvPr/>
        </p:nvSpPr>
        <p:spPr>
          <a:xfrm>
            <a:off x="411480" y="868680"/>
            <a:ext cx="64008" cy="1325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">
            <a:extLst>
              <a:ext uri="{FF2B5EF4-FFF2-40B4-BE49-F238E27FC236}">
                <a16:creationId xmlns:a16="http://schemas.microsoft.com/office/drawing/2014/main" id="{6B3462EC-2FB6-157F-1BC7-D44970083546}"/>
              </a:ext>
            </a:extLst>
          </p:cNvPr>
          <p:cNvSpPr/>
          <p:nvPr/>
        </p:nvSpPr>
        <p:spPr>
          <a:xfrm>
            <a:off x="594360" y="96012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目标一：构建长期情感识别基准数据集</a:t>
            </a:r>
            <a:endParaRPr lang="en-US" sz="1250" dirty="0"/>
          </a:p>
        </p:txBody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92FE932C-4BF7-7EAF-387E-7C5BA3E6376E}"/>
              </a:ext>
            </a:extLst>
          </p:cNvPr>
          <p:cNvSpPr/>
          <p:nvPr/>
        </p:nvSpPr>
        <p:spPr>
          <a:xfrm>
            <a:off x="594360" y="1344168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Friends 完整剧本为输入，筛选需要长期上下文才能准确判断情绪的候选台词，标注说话人真实情绪（而非表面情绪或剧情功能）。</a:t>
            </a:r>
            <a:endParaRPr lang="en-US" sz="1100" dirty="0"/>
          </a:p>
        </p:txBody>
      </p:sp>
      <p:sp>
        <p:nvSpPr>
          <p:cNvPr id="36" name="Shape 5">
            <a:extLst>
              <a:ext uri="{FF2B5EF4-FFF2-40B4-BE49-F238E27FC236}">
                <a16:creationId xmlns:a16="http://schemas.microsoft.com/office/drawing/2014/main" id="{86FFE9AC-2D31-B48D-50DE-6D391E423A6E}"/>
              </a:ext>
            </a:extLst>
          </p:cNvPr>
          <p:cNvSpPr/>
          <p:nvPr/>
        </p:nvSpPr>
        <p:spPr>
          <a:xfrm>
            <a:off x="411480" y="2377440"/>
            <a:ext cx="832104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7" name="Shape 6">
            <a:extLst>
              <a:ext uri="{FF2B5EF4-FFF2-40B4-BE49-F238E27FC236}">
                <a16:creationId xmlns:a16="http://schemas.microsoft.com/office/drawing/2014/main" id="{7CAA8B7C-FF5A-D82C-F8BC-E93D1DD26A5F}"/>
              </a:ext>
            </a:extLst>
          </p:cNvPr>
          <p:cNvSpPr/>
          <p:nvPr/>
        </p:nvSpPr>
        <p:spPr>
          <a:xfrm>
            <a:off x="411480" y="2377440"/>
            <a:ext cx="64008" cy="13258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8" name="Text 7">
            <a:extLst>
              <a:ext uri="{FF2B5EF4-FFF2-40B4-BE49-F238E27FC236}">
                <a16:creationId xmlns:a16="http://schemas.microsoft.com/office/drawing/2014/main" id="{F1ED1719-EFD4-E328-7C5A-F2C207F97842}"/>
              </a:ext>
            </a:extLst>
          </p:cNvPr>
          <p:cNvSpPr/>
          <p:nvPr/>
        </p:nvSpPr>
        <p:spPr>
          <a:xfrm>
            <a:off x="594360" y="246888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目标二：设计记忆增强情感识别 Agent</a:t>
            </a:r>
            <a:endParaRPr lang="en-US" sz="1250" dirty="0"/>
          </a:p>
        </p:txBody>
      </p:sp>
      <p:sp>
        <p:nvSpPr>
          <p:cNvPr id="39" name="Text 8">
            <a:extLst>
              <a:ext uri="{FF2B5EF4-FFF2-40B4-BE49-F238E27FC236}">
                <a16:creationId xmlns:a16="http://schemas.microsoft.com/office/drawing/2014/main" id="{5FE1EB55-AF49-3843-785B-2B1876D40403}"/>
              </a:ext>
            </a:extLst>
          </p:cNvPr>
          <p:cNvSpPr/>
          <p:nvPr/>
        </p:nvSpPr>
        <p:spPr>
          <a:xfrm>
            <a:off x="594360" y="2852928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按剧情顺序在线阅读剧本，预测第 t 句台词时，只能使用截至 t 时刻的信息，所有记忆必须在线增量构建。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13" grpId="0" animBg="1"/>
      <p:bldP spid="16" grpId="0" animBg="1"/>
      <p:bldP spid="18" grpId="0" animBg="1"/>
      <p:bldP spid="19" grpId="0" animBg="1"/>
      <p:bldP spid="21" grpId="0" animBg="1"/>
      <p:bldP spid="22" grpId="0" animBg="1"/>
      <p:bldP spid="24" grpId="0" animBg="1"/>
      <p:bldP spid="25" grpId="0" animBg="1"/>
      <p:bldP spid="27" grpId="0" animBg="1"/>
      <p:bldP spid="28" grpId="0" animBg="1"/>
      <p:bldP spid="30" grpId="0" animBg="1"/>
      <p:bldP spid="31" grpId="0" animBg="1"/>
      <p:bldP spid="34" grpId="0" animBg="1"/>
      <p:bldP spid="35" grpId="0" animBg="1"/>
      <p:bldP spid="38" grpId="0" animBg="1"/>
      <p:bldP spid="3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altLang="zh-CN" sz="18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r>
              <a:rPr lang="zh-CN" altLang="en-US" sz="18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800" b="1" dirty="0" err="1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相关研究脉络：情感计算</a:t>
            </a:r>
            <a:r>
              <a:rPr lang="en-US" sz="18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× 长期记忆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38912" y="521208"/>
            <a:ext cx="82296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从情绪分类（Emotion Classification）到认知推理（Cognitive Reasoning），从上下文窗口到可演化记忆（Evolvable Memory）</a:t>
            </a:r>
            <a:endParaRPr lang="en-US" sz="78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406908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4632" y="822960"/>
            <a:ext cx="3922776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情感计算 Affective Computing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4663440" y="804672"/>
            <a:ext cx="4069080" cy="3474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36592" y="822960"/>
            <a:ext cx="3922776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长期记忆 Long-Term Memory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11480" y="1243584"/>
            <a:ext cx="40690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243584"/>
            <a:ext cx="73152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7784" y="1426464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" y="1431036"/>
            <a:ext cx="256032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914400" y="1316736"/>
            <a:ext cx="3410712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 → 描述：ETC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914400" y="1545336"/>
            <a:ext cx="3410712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自然语言情感转录，表达混合情绪与隐性心理状态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4663440" y="1243584"/>
            <a:ext cx="40690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243584"/>
            <a:ext cx="73152" cy="6583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9744" y="1426464"/>
            <a:ext cx="256032" cy="25603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9744" y="1431036"/>
            <a:ext cx="256032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5166360" y="1316736"/>
            <a:ext cx="3410712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MemoryBank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5166360" y="1545336"/>
            <a:ext cx="3410712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分层保存原始对话、摘要与用户画像；遗忘曲线模拟陪伴记忆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411480" y="2029968"/>
            <a:ext cx="40690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029968"/>
            <a:ext cx="73152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7784" y="2212848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" y="2217420"/>
            <a:ext cx="256032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914400" y="2103120"/>
            <a:ext cx="3410712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长上下文 × 认知评价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914400" y="2331720"/>
            <a:ext cx="3410712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LongEmotion 扩展到多轮长文本；Appraisal / ToM 评估情境-情绪推理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4663440" y="2029968"/>
            <a:ext cx="40690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2029968"/>
            <a:ext cx="73152" cy="6583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09744" y="2212848"/>
            <a:ext cx="256032" cy="25603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9744" y="2217420"/>
            <a:ext cx="256032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60" dirty="0"/>
          </a:p>
        </p:txBody>
      </p:sp>
      <p:sp>
        <p:nvSpPr>
          <p:cNvPr id="30" name="Text 28"/>
          <p:cNvSpPr/>
          <p:nvPr/>
        </p:nvSpPr>
        <p:spPr>
          <a:xfrm>
            <a:off x="5166360" y="2103120"/>
            <a:ext cx="3410712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MemGPT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5166360" y="2331720"/>
            <a:ext cx="3410712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 OS 的上下文管理：主上下文（RAM）与外部存储主动调度</a:t>
            </a:r>
            <a:endParaRPr lang="en-US" sz="740" dirty="0"/>
          </a:p>
        </p:txBody>
      </p:sp>
      <p:sp>
        <p:nvSpPr>
          <p:cNvPr id="32" name="Shape 30"/>
          <p:cNvSpPr/>
          <p:nvPr/>
        </p:nvSpPr>
        <p:spPr>
          <a:xfrm>
            <a:off x="411480" y="2816352"/>
            <a:ext cx="40690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" y="2816352"/>
            <a:ext cx="73152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7784" y="2999232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7784" y="3003804"/>
            <a:ext cx="256032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60" dirty="0"/>
          </a:p>
        </p:txBody>
      </p:sp>
      <p:sp>
        <p:nvSpPr>
          <p:cNvPr id="36" name="Text 34"/>
          <p:cNvSpPr/>
          <p:nvPr/>
        </p:nvSpPr>
        <p:spPr>
          <a:xfrm>
            <a:off x="914400" y="2889504"/>
            <a:ext cx="3410712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生成端过程监督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914400" y="3118104"/>
            <a:ext cx="3410712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EmoLLM / AFlow / RLVER：评价推理图、情感流、可验证奖励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4663440" y="2816352"/>
            <a:ext cx="40690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2816352"/>
            <a:ext cx="73152" cy="6583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09744" y="2999232"/>
            <a:ext cx="256032" cy="25603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9744" y="3003804"/>
            <a:ext cx="256032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60" dirty="0"/>
          </a:p>
        </p:txBody>
      </p:sp>
      <p:sp>
        <p:nvSpPr>
          <p:cNvPr id="42" name="Text 40"/>
          <p:cNvSpPr/>
          <p:nvPr/>
        </p:nvSpPr>
        <p:spPr>
          <a:xfrm>
            <a:off x="5166360" y="2889504"/>
            <a:ext cx="3410712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A-Mem</a:t>
            </a:r>
            <a:endParaRPr lang="en-US" sz="880" dirty="0"/>
          </a:p>
        </p:txBody>
      </p:sp>
      <p:sp>
        <p:nvSpPr>
          <p:cNvPr id="43" name="Text 41"/>
          <p:cNvSpPr/>
          <p:nvPr/>
        </p:nvSpPr>
        <p:spPr>
          <a:xfrm>
            <a:off x="5166360" y="3118104"/>
            <a:ext cx="3410712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Zettelkasten 注记网络；新经验触发历史记忆链接与演化</a:t>
            </a:r>
            <a:endParaRPr lang="en-US" sz="740" dirty="0"/>
          </a:p>
        </p:txBody>
      </p:sp>
      <p:sp>
        <p:nvSpPr>
          <p:cNvPr id="44" name="Shape 42"/>
          <p:cNvSpPr/>
          <p:nvPr/>
        </p:nvSpPr>
        <p:spPr>
          <a:xfrm>
            <a:off x="411480" y="3602736"/>
            <a:ext cx="40690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11480" y="3602736"/>
            <a:ext cx="73152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57784" y="3785616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7784" y="3790188"/>
            <a:ext cx="256032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60" dirty="0"/>
          </a:p>
        </p:txBody>
      </p:sp>
      <p:sp>
        <p:nvSpPr>
          <p:cNvPr id="48" name="Text 46"/>
          <p:cNvSpPr/>
          <p:nvPr/>
        </p:nvSpPr>
        <p:spPr>
          <a:xfrm>
            <a:off x="914400" y="3675888"/>
            <a:ext cx="3410712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人格与情绪动态</a:t>
            </a:r>
            <a:endParaRPr lang="en-US" sz="880" dirty="0"/>
          </a:p>
        </p:txBody>
      </p:sp>
      <p:sp>
        <p:nvSpPr>
          <p:cNvPr id="49" name="Text 47"/>
          <p:cNvSpPr/>
          <p:nvPr/>
        </p:nvSpPr>
        <p:spPr>
          <a:xfrm>
            <a:off x="914400" y="3904488"/>
            <a:ext cx="3410712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MECoT 用人格权重 + 情感转移矩阵维持角色一致性</a:t>
            </a:r>
            <a:endParaRPr lang="en-US" sz="740" dirty="0"/>
          </a:p>
        </p:txBody>
      </p:sp>
      <p:sp>
        <p:nvSpPr>
          <p:cNvPr id="50" name="Shape 48"/>
          <p:cNvSpPr/>
          <p:nvPr/>
        </p:nvSpPr>
        <p:spPr>
          <a:xfrm>
            <a:off x="4663440" y="3602736"/>
            <a:ext cx="40690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663440" y="3602736"/>
            <a:ext cx="73152" cy="6583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09744" y="3785616"/>
            <a:ext cx="256032" cy="25603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09744" y="3790188"/>
            <a:ext cx="256032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60" dirty="0"/>
          </a:p>
        </p:txBody>
      </p:sp>
      <p:sp>
        <p:nvSpPr>
          <p:cNvPr id="54" name="Text 52"/>
          <p:cNvSpPr/>
          <p:nvPr/>
        </p:nvSpPr>
        <p:spPr>
          <a:xfrm>
            <a:off x="5166360" y="3675888"/>
            <a:ext cx="3410712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Mem0 / Mem0g</a:t>
            </a:r>
            <a:endParaRPr lang="en-US" sz="880" dirty="0"/>
          </a:p>
        </p:txBody>
      </p:sp>
      <p:sp>
        <p:nvSpPr>
          <p:cNvPr id="55" name="Text 53"/>
          <p:cNvSpPr/>
          <p:nvPr/>
        </p:nvSpPr>
        <p:spPr>
          <a:xfrm>
            <a:off x="5166360" y="3904488"/>
            <a:ext cx="3410712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判断 ADD / UPDATE / DELETE / NOOP；图记忆支持实体关系与时序变化</a:t>
            </a:r>
            <a:endParaRPr lang="en-US" sz="740" dirty="0"/>
          </a:p>
        </p:txBody>
      </p:sp>
      <p:sp>
        <p:nvSpPr>
          <p:cNvPr id="56" name="Shape 54"/>
          <p:cNvSpPr/>
          <p:nvPr/>
        </p:nvSpPr>
        <p:spPr>
          <a:xfrm>
            <a:off x="411480" y="4425696"/>
            <a:ext cx="8321040" cy="502920"/>
          </a:xfrm>
          <a:prstGeom prst="roundRect">
            <a:avLst>
              <a:gd name="adj" fmla="val 10909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11480" y="4425696"/>
            <a:ext cx="9144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94360" y="4489704"/>
            <a:ext cx="123444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对本研究启发</a:t>
            </a:r>
            <a:endParaRPr lang="en-US" sz="960" dirty="0"/>
          </a:p>
        </p:txBody>
      </p:sp>
      <p:sp>
        <p:nvSpPr>
          <p:cNvPr id="59" name="Text 57"/>
          <p:cNvSpPr/>
          <p:nvPr/>
        </p:nvSpPr>
        <p:spPr>
          <a:xfrm>
            <a:off x="1874520" y="4471416"/>
            <a:ext cx="66751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ERC 应从短窗口分类走向“长期记忆驱动”的情感成因、人物关系与认知评价（Appraisal）推理；记忆模块需保存 事件—评价—情绪—后续影响 链条。</a:t>
            </a:r>
            <a:endParaRPr lang="en-US" sz="790" dirty="0"/>
          </a:p>
        </p:txBody>
      </p:sp>
      <p:sp>
        <p:nvSpPr>
          <p:cNvPr id="60" name="Text 58"/>
          <p:cNvSpPr/>
          <p:nvPr/>
        </p:nvSpPr>
        <p:spPr>
          <a:xfrm>
            <a:off x="457200" y="4965192"/>
            <a:ext cx="822960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54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代表工作：ETC · LongEmotion · EmoLLM · AFlow · MECoT · MemoryBank · MemGPT · A-Mem · Mem0</a:t>
            </a:r>
            <a:endParaRPr lang="en-US" sz="5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数据集构建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1965960" cy="914400"/>
          </a:xfrm>
          <a:prstGeom prst="rect">
            <a:avLst/>
          </a:prstGeom>
          <a:solidFill>
            <a:srgbClr val="3B82F6"/>
          </a:solidFill>
          <a:ln/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84124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60,000+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130759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FD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原始台词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560320" y="804672"/>
            <a:ext cx="1965960" cy="914400"/>
          </a:xfrm>
          <a:prstGeom prst="rect">
            <a:avLst/>
          </a:prstGeom>
          <a:solidFill>
            <a:srgbClr val="3B82F6"/>
          </a:solidFill>
          <a:ln/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0" y="84124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8,000+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560320" y="130759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FD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场景说明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804672"/>
            <a:ext cx="1965960" cy="914400"/>
          </a:xfrm>
          <a:prstGeom prst="rect">
            <a:avLst/>
          </a:prstGeom>
          <a:solidFill>
            <a:srgbClr val="3B82F6"/>
          </a:solidFill>
          <a:ln/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84124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8,000+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09160" y="130759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FD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长期依赖候选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58000" y="804672"/>
            <a:ext cx="1965960" cy="914400"/>
          </a:xfrm>
          <a:prstGeom prst="rect">
            <a:avLst/>
          </a:prstGeom>
          <a:solidFill>
            <a:srgbClr val="3B82F6"/>
          </a:solidFill>
          <a:ln/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0" y="84124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858000" y="130759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FD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已标注台词（第三季）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18745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数据构建流程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2304288"/>
            <a:ext cx="832104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304288"/>
            <a:ext cx="457200" cy="8046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304288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5840" y="23774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原始剧本解析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267004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提取台词、说话人、场景说明、动作描写、episode/scene 顺序标识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3236976"/>
            <a:ext cx="832104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236976"/>
            <a:ext cx="457200" cy="8046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3236976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5840" y="331012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长期依赖筛选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" y="3602736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50 句台词 + episode 简介，调用 LLM 判断是否需要长期上下文分析情感；按四类依赖模式提示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4169664"/>
            <a:ext cx="832104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1480" y="4169664"/>
            <a:ext cx="457200" cy="8046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411480" y="4169664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5840" y="424281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辅助标注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05840" y="4535424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标注模型：GPT-5.5（thinking=high）</a:t>
            </a:r>
            <a:endParaRPr lang="en-US" sz="9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输入：目标台词全量前缀 + 集数简介</a:t>
            </a:r>
            <a:endParaRPr lang="en-US" sz="9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输出：情绪 / 强度 / 分析理由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情绪标签体系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11480" y="841248"/>
            <a:ext cx="1133856" cy="7498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886968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1225296"/>
            <a:ext cx="1133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愤怒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36776" y="841248"/>
            <a:ext cx="1133856" cy="74980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7" name="Text 5"/>
          <p:cNvSpPr/>
          <p:nvPr/>
        </p:nvSpPr>
        <p:spPr>
          <a:xfrm>
            <a:off x="1636776" y="886968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disgust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36776" y="1225296"/>
            <a:ext cx="1133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厌恶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62072" y="841248"/>
            <a:ext cx="1133856" cy="74980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2862072" y="886968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62072" y="1225296"/>
            <a:ext cx="1133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恐惧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087368" y="841248"/>
            <a:ext cx="1133856" cy="7498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4087368" y="886968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happiness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087368" y="1225296"/>
            <a:ext cx="1133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12664" y="841248"/>
            <a:ext cx="1133856" cy="7498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5312664" y="886968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12664" y="1225296"/>
            <a:ext cx="1133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惊讶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37960" y="841248"/>
            <a:ext cx="1133856" cy="7498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886968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sadness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37960" y="1225296"/>
            <a:ext cx="1133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悲伤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63256" y="841248"/>
            <a:ext cx="1133856" cy="7498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7763256" y="886968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contentment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63256" y="1225296"/>
            <a:ext cx="1133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满足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1480" y="1755648"/>
            <a:ext cx="1133856" cy="7498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1801368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relief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2139696"/>
            <a:ext cx="1133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释然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636776" y="1755648"/>
            <a:ext cx="1133856" cy="749808"/>
          </a:xfrm>
          <a:prstGeom prst="rect">
            <a:avLst/>
          </a:prstGeom>
          <a:solidFill>
            <a:srgbClr val="84CC16"/>
          </a:solidFill>
          <a:ln/>
        </p:spPr>
      </p:sp>
      <p:sp>
        <p:nvSpPr>
          <p:cNvPr id="28" name="Text 26"/>
          <p:cNvSpPr/>
          <p:nvPr/>
        </p:nvSpPr>
        <p:spPr>
          <a:xfrm>
            <a:off x="1636776" y="1801368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636776" y="2139696"/>
            <a:ext cx="1133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兴趣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862072" y="1755648"/>
            <a:ext cx="1133856" cy="7498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2862072" y="1801368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contempt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862072" y="2139696"/>
            <a:ext cx="1133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轻蔑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087368" y="1755648"/>
            <a:ext cx="1133856" cy="749808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34" name="Text 32"/>
          <p:cNvSpPr/>
          <p:nvPr/>
        </p:nvSpPr>
        <p:spPr>
          <a:xfrm>
            <a:off x="4087368" y="1801368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087368" y="2139696"/>
            <a:ext cx="1133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羞耻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312664" y="1755648"/>
            <a:ext cx="1133856" cy="7498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7" name="Text 35"/>
          <p:cNvSpPr/>
          <p:nvPr/>
        </p:nvSpPr>
        <p:spPr>
          <a:xfrm>
            <a:off x="5312664" y="1801368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312664" y="2139696"/>
            <a:ext cx="1133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内疚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537960" y="1755648"/>
            <a:ext cx="1133856" cy="7498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0" name="Text 38"/>
          <p:cNvSpPr/>
          <p:nvPr/>
        </p:nvSpPr>
        <p:spPr>
          <a:xfrm>
            <a:off x="6537960" y="1801368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embarrass...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537960" y="2139696"/>
            <a:ext cx="1133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尴尬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763256" y="1755648"/>
            <a:ext cx="1133856" cy="74980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3" name="Text 41"/>
          <p:cNvSpPr/>
          <p:nvPr/>
        </p:nvSpPr>
        <p:spPr>
          <a:xfrm>
            <a:off x="7763256" y="1801368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763256" y="2139696"/>
            <a:ext cx="1133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中性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57200" y="2816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强度标注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11480" y="3200400"/>
            <a:ext cx="1965960" cy="530352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47" name="Text 45"/>
          <p:cNvSpPr/>
          <p:nvPr/>
        </p:nvSpPr>
        <p:spPr>
          <a:xfrm>
            <a:off x="411480" y="3200400"/>
            <a:ext cx="1965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low 弱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560320" y="3200400"/>
            <a:ext cx="1965960" cy="5303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9" name="Text 47"/>
          <p:cNvSpPr/>
          <p:nvPr/>
        </p:nvSpPr>
        <p:spPr>
          <a:xfrm>
            <a:off x="2560320" y="3200400"/>
            <a:ext cx="1965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medium 中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709160" y="3200400"/>
            <a:ext cx="1965960" cy="5303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51" name="Text 49"/>
          <p:cNvSpPr/>
          <p:nvPr/>
        </p:nvSpPr>
        <p:spPr>
          <a:xfrm>
            <a:off x="4709160" y="3200400"/>
            <a:ext cx="1965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high 强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858000" y="3200400"/>
            <a:ext cx="1965960" cy="53035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3" name="Text 51"/>
          <p:cNvSpPr/>
          <p:nvPr/>
        </p:nvSpPr>
        <p:spPr>
          <a:xfrm>
            <a:off x="6858000" y="3200400"/>
            <a:ext cx="1965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none（仅 neutral）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11480" y="3886200"/>
            <a:ext cx="83210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11480" y="3886200"/>
            <a:ext cx="64008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6" name="Text 54"/>
          <p:cNvSpPr/>
          <p:nvPr/>
        </p:nvSpPr>
        <p:spPr>
          <a:xfrm>
            <a:off x="566928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理论依据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66928" y="42336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 Ekman（六大基础情绪）、Izard（离散情绪理论，含 shame / contempt / guilt / interest）、Plutchik（情绪轮，进化功能视角）；不拘泥于任一理论，根据长期对话任务需求定制，额外保留社会性情绪与自我意识情绪。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E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AC Agent 架构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3931920" cy="3840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80467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确定性外层 Workflow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3931920" cy="658368"/>
          </a:xfrm>
          <a:prstGeom prst="rect">
            <a:avLst/>
          </a:prstGeom>
          <a:solidFill>
            <a:srgbClr val="1A2E52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98448"/>
            <a:ext cx="54864" cy="658368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298448"/>
            <a:ext cx="320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1371600"/>
            <a:ext cx="3401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FriendsTranscriptChunkSource 按顺序读取 description / utterance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3931920" cy="658368"/>
          </a:xfrm>
          <a:prstGeom prst="rect">
            <a:avLst/>
          </a:prstGeom>
          <a:solidFill>
            <a:srgbClr val="1A2E52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2103120"/>
            <a:ext cx="54864" cy="658368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2103120"/>
            <a:ext cx="320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4672" y="2176272"/>
            <a:ext cx="3401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 utterance 累积到 batch_size → update_memory chunk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907792"/>
            <a:ext cx="3931920" cy="658368"/>
          </a:xfrm>
          <a:prstGeom prst="rect">
            <a:avLst/>
          </a:prstGeom>
          <a:solidFill>
            <a:srgbClr val="1A2E52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2907792"/>
            <a:ext cx="54864" cy="658368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" y="2907792"/>
            <a:ext cx="320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4672" y="2980944"/>
            <a:ext cx="3401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long_context_selected=true 的 utterance → label chunk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712464"/>
            <a:ext cx="3931920" cy="658368"/>
          </a:xfrm>
          <a:prstGeom prst="rect">
            <a:avLst/>
          </a:prstGeom>
          <a:solidFill>
            <a:srgbClr val="1A2E52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" y="3712464"/>
            <a:ext cx="54864" cy="658368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" y="3712464"/>
            <a:ext cx="320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4672" y="3785616"/>
            <a:ext cx="3401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WorkflowRunner 分派到 MemoryUpdateLoop 或 LabelLoop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0" y="804672"/>
            <a:ext cx="4206240" cy="38404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80467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Tool-calling 内层循环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0" y="1298448"/>
            <a:ext cx="4206240" cy="749808"/>
          </a:xfrm>
          <a:prstGeom prst="rect">
            <a:avLst/>
          </a:prstGeom>
          <a:solidFill>
            <a:srgbClr val="0D2A2A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0" y="1298448"/>
            <a:ext cx="54864" cy="74980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5" name="Text 23"/>
          <p:cNvSpPr/>
          <p:nvPr/>
        </p:nvSpPr>
        <p:spPr>
          <a:xfrm>
            <a:off x="4700016" y="13716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search_events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00016" y="16459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94D9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query/人物/关键词 检索事件索引，返回候选摘要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0" y="2194560"/>
            <a:ext cx="4206240" cy="749808"/>
          </a:xfrm>
          <a:prstGeom prst="rect">
            <a:avLst/>
          </a:prstGeom>
          <a:solidFill>
            <a:srgbClr val="0D2A2A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0" y="2194560"/>
            <a:ext cx="54864" cy="74980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9" name="Text 27"/>
          <p:cNvSpPr/>
          <p:nvPr/>
        </p:nvSpPr>
        <p:spPr>
          <a:xfrm>
            <a:off x="4700016" y="22677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read_event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00016" y="254203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94D9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读取某事件的详细描述（每次最多 3 个）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0" y="3090672"/>
            <a:ext cx="4206240" cy="749808"/>
          </a:xfrm>
          <a:prstGeom prst="rect">
            <a:avLst/>
          </a:prstGeom>
          <a:solidFill>
            <a:srgbClr val="0D2A2A"/>
          </a:solidFill>
          <a:ln/>
        </p:spPr>
      </p:sp>
      <p:sp>
        <p:nvSpPr>
          <p:cNvPr id="32" name="Shape 30"/>
          <p:cNvSpPr/>
          <p:nvPr/>
        </p:nvSpPr>
        <p:spPr>
          <a:xfrm>
            <a:off x="4572000" y="3090672"/>
            <a:ext cx="54864" cy="74980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3" name="Text 31"/>
          <p:cNvSpPr/>
          <p:nvPr/>
        </p:nvSpPr>
        <p:spPr>
          <a:xfrm>
            <a:off x="4700016" y="31638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update_memory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00016" y="343814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94D9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delta 写入人物状态、关系、事件索引和详细事件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0" y="4041648"/>
            <a:ext cx="4206240" cy="868680"/>
          </a:xfrm>
          <a:prstGeom prst="rect">
            <a:avLst/>
          </a:prstGeom>
          <a:solidFill>
            <a:srgbClr val="0D2A2A"/>
          </a:solidFill>
          <a:ln/>
        </p:spPr>
      </p:sp>
      <p:sp>
        <p:nvSpPr>
          <p:cNvPr id="36" name="Shape 34"/>
          <p:cNvSpPr/>
          <p:nvPr/>
        </p:nvSpPr>
        <p:spPr>
          <a:xfrm>
            <a:off x="4572000" y="4041648"/>
            <a:ext cx="54864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4700016" y="40965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设计优势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00016" y="4389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检索行为可记录 / 可复现 / 可消融；避免把全量历史文本无差别塞入 prompt；Agent 需要显式决定「检索什么、读取什么」。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记忆结构设计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41605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804672"/>
            <a:ext cx="4160520" cy="3474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521208" y="8503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人物状态 CharacterState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21208" y="1225296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character / version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21208" y="1453896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recent_events：近期事件摘要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21208" y="1682496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short_term_traits：临时目标/压力/情绪基调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21208" y="1911096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long_term_traits：人格/行为模式/稳定脆弱点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21208" y="2139696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relationships：人际关系状态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2468880"/>
            <a:ext cx="4160520" cy="347472"/>
          </a:xfrm>
          <a:prstGeom prst="rect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4963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 err="1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高度压缩，预测时全量输入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800600" y="804672"/>
            <a:ext cx="41605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804672"/>
            <a:ext cx="4160520" cy="34747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4910328" y="8503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事件索引 EventIndex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10328" y="1225296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event_id / scene_id / time_label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10328" y="1453896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location / characters / keywords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10328" y="1682496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short_summary + importance (1–5)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10328" y="1911096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knowledge_scope：谁知道这件事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10328" y="2139696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detail_id：指向详细事件记忆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00600" y="2468880"/>
            <a:ext cx="4160520" cy="347472"/>
          </a:xfrm>
          <a:prstGeom prst="rect">
            <a:avLst/>
          </a:prstGeom>
          <a:solidFill>
            <a:srgbClr val="14B8A6">
              <a:alpha val="12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24963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 err="1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轻量检索入口；后续可加入</a:t>
            </a: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embedding 混合检索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11480" y="2953512"/>
            <a:ext cx="41605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2953512"/>
            <a:ext cx="4160520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521208" y="29992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详细事件 EventDetail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21208" y="3374136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detail_id / event_id / description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21208" y="3602736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scene_id / time_label / location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1208" y="3831336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knowledge_scope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" y="4617720"/>
            <a:ext cx="4160520" cy="347472"/>
          </a:xfrm>
          <a:prstGeom prst="rect">
            <a:avLst/>
          </a:prstGeom>
          <a:solidFill>
            <a:srgbClr val="F59E0B">
              <a:alpha val="1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46451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 err="1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不默认进入</a:t>
            </a: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prompt；Agent 需显式调用 </a:t>
            </a:r>
            <a:r>
              <a:rPr lang="en-US" sz="850" dirty="0" err="1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read_event；每次最多读</a:t>
            </a: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5 个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00600" y="2953512"/>
            <a:ext cx="41605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2953512"/>
            <a:ext cx="4160520" cy="34747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3" name="Text 31"/>
          <p:cNvSpPr/>
          <p:nvPr/>
        </p:nvSpPr>
        <p:spPr>
          <a:xfrm>
            <a:off x="4910328" y="29992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当前事件 CurrentEventState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910328" y="3374136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scene_id / time_label / location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910328" y="3602736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summary：scene 内已发生内容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10328" y="3831336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characters / knowledge_scope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00600" y="4617720"/>
            <a:ext cx="4160520" cy="347472"/>
          </a:xfrm>
          <a:prstGeom prst="rect">
            <a:avLst/>
          </a:prstGeom>
          <a:solidFill>
            <a:srgbClr val="EC4899">
              <a:alpha val="12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892040" y="46451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 err="1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始终作为近距离上下文输入；优先级高于历史详细事件；scene</a:t>
            </a: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切换时重置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</a:t>
            </a:r>
            <a:r>
              <a:rPr lang="en-US" sz="1800" b="1" dirty="0" err="1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实验结果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8321040" cy="685800"/>
          </a:xfrm>
          <a:prstGeom prst="rect">
            <a:avLst/>
          </a:prstGeom>
          <a:solidFill>
            <a:srgbClr val="EFF6FF"/>
          </a:solidFill>
          <a:ln/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804672"/>
            <a:ext cx="54864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850392"/>
            <a:ext cx="8028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实验设置：替换人物姓名，针对已标注 300 </a:t>
            </a:r>
            <a:r>
              <a:rPr lang="en-US" sz="105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句第三季台词，分别运行</a:t>
            </a: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05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无上下文</a:t>
            </a:r>
            <a:r>
              <a:rPr lang="zh-CN" alt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15句上下文基线 和 AC Agent，比较情绪预测结果。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788355" y="1623512"/>
            <a:ext cx="2856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句上下文基线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734754" y="1627632"/>
            <a:ext cx="318064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 Agent（当前版本）</a:t>
            </a:r>
            <a:endParaRPr lang="en-US" sz="1150" dirty="0"/>
          </a:p>
        </p:txBody>
      </p:sp>
      <p:sp>
        <p:nvSpPr>
          <p:cNvPr id="47" name="Shape 4">
            <a:extLst>
              <a:ext uri="{FF2B5EF4-FFF2-40B4-BE49-F238E27FC236}">
                <a16:creationId xmlns:a16="http://schemas.microsoft.com/office/drawing/2014/main" id="{639EA167-72DD-4556-3B47-9E26C6619E1C}"/>
              </a:ext>
            </a:extLst>
          </p:cNvPr>
          <p:cNvSpPr/>
          <p:nvPr/>
        </p:nvSpPr>
        <p:spPr>
          <a:xfrm>
            <a:off x="411480" y="1631752"/>
            <a:ext cx="2636521" cy="3840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8" name="Text 5">
            <a:extLst>
              <a:ext uri="{FF2B5EF4-FFF2-40B4-BE49-F238E27FC236}">
                <a16:creationId xmlns:a16="http://schemas.microsoft.com/office/drawing/2014/main" id="{66E7A3A6-9E8D-2BA9-C31B-C0B9F8005867}"/>
              </a:ext>
            </a:extLst>
          </p:cNvPr>
          <p:cNvSpPr/>
          <p:nvPr/>
        </p:nvSpPr>
        <p:spPr>
          <a:xfrm>
            <a:off x="411479" y="1627632"/>
            <a:ext cx="263652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无上下文基线</a:t>
            </a:r>
            <a:endParaRPr lang="en-US" sz="1150" dirty="0"/>
          </a:p>
        </p:txBody>
      </p:sp>
      <p:sp>
        <p:nvSpPr>
          <p:cNvPr id="49" name="Shape 6">
            <a:extLst>
              <a:ext uri="{FF2B5EF4-FFF2-40B4-BE49-F238E27FC236}">
                <a16:creationId xmlns:a16="http://schemas.microsoft.com/office/drawing/2014/main" id="{F762DE1E-091D-30C9-A3BA-BAFE413A2A04}"/>
              </a:ext>
            </a:extLst>
          </p:cNvPr>
          <p:cNvSpPr/>
          <p:nvPr/>
        </p:nvSpPr>
        <p:spPr>
          <a:xfrm>
            <a:off x="410350" y="2098096"/>
            <a:ext cx="2636521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50" name="Text 7">
            <a:extLst>
              <a:ext uri="{FF2B5EF4-FFF2-40B4-BE49-F238E27FC236}">
                <a16:creationId xmlns:a16="http://schemas.microsoft.com/office/drawing/2014/main" id="{F1847254-62CF-8481-499F-88DBEEEB04F7}"/>
              </a:ext>
            </a:extLst>
          </p:cNvPr>
          <p:cNvSpPr/>
          <p:nvPr/>
        </p:nvSpPr>
        <p:spPr>
          <a:xfrm>
            <a:off x="446473" y="2168764"/>
            <a:ext cx="133701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多标签集合完全一致</a:t>
            </a:r>
            <a:endParaRPr lang="en-US" sz="950" dirty="0"/>
          </a:p>
        </p:txBody>
      </p:sp>
      <p:sp>
        <p:nvSpPr>
          <p:cNvPr id="51" name="Text 9">
            <a:extLst>
              <a:ext uri="{FF2B5EF4-FFF2-40B4-BE49-F238E27FC236}">
                <a16:creationId xmlns:a16="http://schemas.microsoft.com/office/drawing/2014/main" id="{F78CB9BF-22B6-D348-5E13-7AED3F66F75A}"/>
              </a:ext>
            </a:extLst>
          </p:cNvPr>
          <p:cNvSpPr/>
          <p:nvPr/>
        </p:nvSpPr>
        <p:spPr>
          <a:xfrm>
            <a:off x="2284072" y="2189536"/>
            <a:ext cx="590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altLang="zh-CN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18.33</a:t>
            </a: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000" dirty="0"/>
          </a:p>
        </p:txBody>
      </p:sp>
      <p:sp>
        <p:nvSpPr>
          <p:cNvPr id="52" name="Shape 10">
            <a:extLst>
              <a:ext uri="{FF2B5EF4-FFF2-40B4-BE49-F238E27FC236}">
                <a16:creationId xmlns:a16="http://schemas.microsoft.com/office/drawing/2014/main" id="{B20F68FD-AE7B-FC47-115E-39E500A9EE47}"/>
              </a:ext>
            </a:extLst>
          </p:cNvPr>
          <p:cNvSpPr/>
          <p:nvPr/>
        </p:nvSpPr>
        <p:spPr>
          <a:xfrm>
            <a:off x="410350" y="2893624"/>
            <a:ext cx="2636521" cy="658368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53" name="Text 11">
            <a:extLst>
              <a:ext uri="{FF2B5EF4-FFF2-40B4-BE49-F238E27FC236}">
                <a16:creationId xmlns:a16="http://schemas.microsoft.com/office/drawing/2014/main" id="{92D904C9-3679-5485-AF19-E654CAB4C338}"/>
              </a:ext>
            </a:extLst>
          </p:cNvPr>
          <p:cNvSpPr/>
          <p:nvPr/>
        </p:nvSpPr>
        <p:spPr>
          <a:xfrm>
            <a:off x="446473" y="2930200"/>
            <a:ext cx="14839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单标签重叠（有任一交集）</a:t>
            </a:r>
            <a:endParaRPr lang="en-US" sz="950" dirty="0"/>
          </a:p>
        </p:txBody>
      </p:sp>
      <p:sp>
        <p:nvSpPr>
          <p:cNvPr id="54" name="Text 13">
            <a:extLst>
              <a:ext uri="{FF2B5EF4-FFF2-40B4-BE49-F238E27FC236}">
                <a16:creationId xmlns:a16="http://schemas.microsoft.com/office/drawing/2014/main" id="{57038A3D-B378-A915-8FBE-F029497CCBFD}"/>
              </a:ext>
            </a:extLst>
          </p:cNvPr>
          <p:cNvSpPr/>
          <p:nvPr/>
        </p:nvSpPr>
        <p:spPr>
          <a:xfrm>
            <a:off x="2284072" y="2975863"/>
            <a:ext cx="590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altLang="zh-CN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61.67</a:t>
            </a: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000" dirty="0"/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9B29F1B5-DDB7-1C3D-8647-1F5DA0D2E1CF}"/>
              </a:ext>
            </a:extLst>
          </p:cNvPr>
          <p:cNvSpPr/>
          <p:nvPr/>
        </p:nvSpPr>
        <p:spPr>
          <a:xfrm>
            <a:off x="3253739" y="1635872"/>
            <a:ext cx="2636521" cy="3840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9" name="Text 5">
            <a:extLst>
              <a:ext uri="{FF2B5EF4-FFF2-40B4-BE49-F238E27FC236}">
                <a16:creationId xmlns:a16="http://schemas.microsoft.com/office/drawing/2014/main" id="{47C8BDD4-BEF6-F47F-7C56-5A4D80B47CA2}"/>
              </a:ext>
            </a:extLst>
          </p:cNvPr>
          <p:cNvSpPr/>
          <p:nvPr/>
        </p:nvSpPr>
        <p:spPr>
          <a:xfrm>
            <a:off x="3253738" y="1631752"/>
            <a:ext cx="263652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句上下文基线</a:t>
            </a:r>
            <a:endParaRPr lang="en-US" sz="1150" dirty="0"/>
          </a:p>
        </p:txBody>
      </p:sp>
      <p:sp>
        <p:nvSpPr>
          <p:cNvPr id="60" name="Shape 6">
            <a:extLst>
              <a:ext uri="{FF2B5EF4-FFF2-40B4-BE49-F238E27FC236}">
                <a16:creationId xmlns:a16="http://schemas.microsoft.com/office/drawing/2014/main" id="{2D5190F2-773C-4689-7F12-291163D969DC}"/>
              </a:ext>
            </a:extLst>
          </p:cNvPr>
          <p:cNvSpPr/>
          <p:nvPr/>
        </p:nvSpPr>
        <p:spPr>
          <a:xfrm>
            <a:off x="3252609" y="2102216"/>
            <a:ext cx="2636521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61" name="Text 7">
            <a:extLst>
              <a:ext uri="{FF2B5EF4-FFF2-40B4-BE49-F238E27FC236}">
                <a16:creationId xmlns:a16="http://schemas.microsoft.com/office/drawing/2014/main" id="{CEDED22E-EB93-B264-536B-DDBA8B1FFF11}"/>
              </a:ext>
            </a:extLst>
          </p:cNvPr>
          <p:cNvSpPr/>
          <p:nvPr/>
        </p:nvSpPr>
        <p:spPr>
          <a:xfrm>
            <a:off x="3288732" y="2172884"/>
            <a:ext cx="133701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多标签集合完全一致</a:t>
            </a:r>
            <a:endParaRPr lang="en-US" sz="950" dirty="0"/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0F5F17D9-A04D-76F6-B987-0073F9AF3186}"/>
              </a:ext>
            </a:extLst>
          </p:cNvPr>
          <p:cNvSpPr/>
          <p:nvPr/>
        </p:nvSpPr>
        <p:spPr>
          <a:xfrm>
            <a:off x="5126331" y="2193656"/>
            <a:ext cx="590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26.67%</a:t>
            </a:r>
            <a:endParaRPr lang="en-US" sz="1000" dirty="0"/>
          </a:p>
        </p:txBody>
      </p:sp>
      <p:sp>
        <p:nvSpPr>
          <p:cNvPr id="63" name="Shape 10">
            <a:extLst>
              <a:ext uri="{FF2B5EF4-FFF2-40B4-BE49-F238E27FC236}">
                <a16:creationId xmlns:a16="http://schemas.microsoft.com/office/drawing/2014/main" id="{8224C2D4-BB85-80F0-A212-961768485CB7}"/>
              </a:ext>
            </a:extLst>
          </p:cNvPr>
          <p:cNvSpPr/>
          <p:nvPr/>
        </p:nvSpPr>
        <p:spPr>
          <a:xfrm>
            <a:off x="3252609" y="2897744"/>
            <a:ext cx="2636521" cy="658368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64" name="Text 11">
            <a:extLst>
              <a:ext uri="{FF2B5EF4-FFF2-40B4-BE49-F238E27FC236}">
                <a16:creationId xmlns:a16="http://schemas.microsoft.com/office/drawing/2014/main" id="{E58A4892-45E7-E2FF-D170-1C7E9771FA7D}"/>
              </a:ext>
            </a:extLst>
          </p:cNvPr>
          <p:cNvSpPr/>
          <p:nvPr/>
        </p:nvSpPr>
        <p:spPr>
          <a:xfrm>
            <a:off x="3288732" y="2934320"/>
            <a:ext cx="14839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单标签重叠</a:t>
            </a:r>
            <a:endParaRPr lang="en-US" sz="950" dirty="0"/>
          </a:p>
        </p:txBody>
      </p:sp>
      <p:sp>
        <p:nvSpPr>
          <p:cNvPr id="65" name="Text 13">
            <a:extLst>
              <a:ext uri="{FF2B5EF4-FFF2-40B4-BE49-F238E27FC236}">
                <a16:creationId xmlns:a16="http://schemas.microsoft.com/office/drawing/2014/main" id="{93D7F530-23EA-16AE-11A3-0A2809F53C92}"/>
              </a:ext>
            </a:extLst>
          </p:cNvPr>
          <p:cNvSpPr/>
          <p:nvPr/>
        </p:nvSpPr>
        <p:spPr>
          <a:xfrm>
            <a:off x="5126331" y="2979983"/>
            <a:ext cx="590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70.67%</a:t>
            </a:r>
            <a:endParaRPr lang="en-US" sz="1000" dirty="0"/>
          </a:p>
        </p:txBody>
      </p:sp>
      <p:sp>
        <p:nvSpPr>
          <p:cNvPr id="69" name="Shape 4">
            <a:extLst>
              <a:ext uri="{FF2B5EF4-FFF2-40B4-BE49-F238E27FC236}">
                <a16:creationId xmlns:a16="http://schemas.microsoft.com/office/drawing/2014/main" id="{E70A43D8-594C-52D0-3C0E-8840938046E6}"/>
              </a:ext>
            </a:extLst>
          </p:cNvPr>
          <p:cNvSpPr/>
          <p:nvPr/>
        </p:nvSpPr>
        <p:spPr>
          <a:xfrm>
            <a:off x="6084710" y="1627632"/>
            <a:ext cx="2636521" cy="3840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0" name="Text 5">
            <a:extLst>
              <a:ext uri="{FF2B5EF4-FFF2-40B4-BE49-F238E27FC236}">
                <a16:creationId xmlns:a16="http://schemas.microsoft.com/office/drawing/2014/main" id="{F106E4B1-6D95-4E2A-D7F6-F932C29B8759}"/>
              </a:ext>
            </a:extLst>
          </p:cNvPr>
          <p:cNvSpPr/>
          <p:nvPr/>
        </p:nvSpPr>
        <p:spPr>
          <a:xfrm>
            <a:off x="6084709" y="1623512"/>
            <a:ext cx="263652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</a:rPr>
              <a:t>Ac</a:t>
            </a:r>
            <a:r>
              <a:rPr lang="zh-CN" alt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</a:rPr>
              <a:t> </a:t>
            </a: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</a:rPr>
              <a:t>agent</a:t>
            </a:r>
            <a:endParaRPr lang="en-US" sz="1150" dirty="0"/>
          </a:p>
        </p:txBody>
      </p:sp>
      <p:sp>
        <p:nvSpPr>
          <p:cNvPr id="71" name="Shape 6">
            <a:extLst>
              <a:ext uri="{FF2B5EF4-FFF2-40B4-BE49-F238E27FC236}">
                <a16:creationId xmlns:a16="http://schemas.microsoft.com/office/drawing/2014/main" id="{40E3C137-DA7F-F2F4-3D6C-33C2DC158607}"/>
              </a:ext>
            </a:extLst>
          </p:cNvPr>
          <p:cNvSpPr/>
          <p:nvPr/>
        </p:nvSpPr>
        <p:spPr>
          <a:xfrm>
            <a:off x="6083580" y="2093976"/>
            <a:ext cx="2636521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2" name="Text 7">
            <a:extLst>
              <a:ext uri="{FF2B5EF4-FFF2-40B4-BE49-F238E27FC236}">
                <a16:creationId xmlns:a16="http://schemas.microsoft.com/office/drawing/2014/main" id="{9457A613-6D66-6E99-DC3F-1765C0C6A6AE}"/>
              </a:ext>
            </a:extLst>
          </p:cNvPr>
          <p:cNvSpPr/>
          <p:nvPr/>
        </p:nvSpPr>
        <p:spPr>
          <a:xfrm>
            <a:off x="6119703" y="2164644"/>
            <a:ext cx="133701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多标签集合完全一致</a:t>
            </a:r>
            <a:endParaRPr lang="en-US" sz="950" dirty="0"/>
          </a:p>
        </p:txBody>
      </p:sp>
      <p:sp>
        <p:nvSpPr>
          <p:cNvPr id="73" name="Text 9">
            <a:extLst>
              <a:ext uri="{FF2B5EF4-FFF2-40B4-BE49-F238E27FC236}">
                <a16:creationId xmlns:a16="http://schemas.microsoft.com/office/drawing/2014/main" id="{4868BBB2-BD95-1F22-09DE-0656E635FE99}"/>
              </a:ext>
            </a:extLst>
          </p:cNvPr>
          <p:cNvSpPr/>
          <p:nvPr/>
        </p:nvSpPr>
        <p:spPr>
          <a:xfrm>
            <a:off x="7957302" y="2185416"/>
            <a:ext cx="590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altLang="zh-CN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7.85</a:t>
            </a: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000" dirty="0"/>
          </a:p>
        </p:txBody>
      </p:sp>
      <p:sp>
        <p:nvSpPr>
          <p:cNvPr id="74" name="Shape 10">
            <a:extLst>
              <a:ext uri="{FF2B5EF4-FFF2-40B4-BE49-F238E27FC236}">
                <a16:creationId xmlns:a16="http://schemas.microsoft.com/office/drawing/2014/main" id="{31E08924-5696-A964-FA06-41C41DD980B7}"/>
              </a:ext>
            </a:extLst>
          </p:cNvPr>
          <p:cNvSpPr/>
          <p:nvPr/>
        </p:nvSpPr>
        <p:spPr>
          <a:xfrm>
            <a:off x="6083580" y="2889504"/>
            <a:ext cx="2636521" cy="658368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5" name="Text 11">
            <a:extLst>
              <a:ext uri="{FF2B5EF4-FFF2-40B4-BE49-F238E27FC236}">
                <a16:creationId xmlns:a16="http://schemas.microsoft.com/office/drawing/2014/main" id="{07B2F452-DFB1-F99A-FABD-D301B9BE3FFA}"/>
              </a:ext>
            </a:extLst>
          </p:cNvPr>
          <p:cNvSpPr/>
          <p:nvPr/>
        </p:nvSpPr>
        <p:spPr>
          <a:xfrm>
            <a:off x="6119703" y="2926080"/>
            <a:ext cx="14839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单标签重叠</a:t>
            </a:r>
            <a:endParaRPr lang="en-US" sz="950" dirty="0"/>
          </a:p>
        </p:txBody>
      </p:sp>
      <p:sp>
        <p:nvSpPr>
          <p:cNvPr id="76" name="Text 13">
            <a:extLst>
              <a:ext uri="{FF2B5EF4-FFF2-40B4-BE49-F238E27FC236}">
                <a16:creationId xmlns:a16="http://schemas.microsoft.com/office/drawing/2014/main" id="{619E89B6-7EC1-92EB-EC3B-25A3E79547E3}"/>
              </a:ext>
            </a:extLst>
          </p:cNvPr>
          <p:cNvSpPr/>
          <p:nvPr/>
        </p:nvSpPr>
        <p:spPr>
          <a:xfrm>
            <a:off x="7957302" y="2971743"/>
            <a:ext cx="590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n-US" altLang="zh-CN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2.48</a:t>
            </a: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 </a:t>
            </a:r>
            <a:r>
              <a:rPr lang="en-US" sz="1800" b="1" dirty="0" err="1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后续计划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57199" y="754380"/>
            <a:ext cx="8229599" cy="3657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6" name="Text 24"/>
          <p:cNvSpPr/>
          <p:nvPr/>
        </p:nvSpPr>
        <p:spPr>
          <a:xfrm>
            <a:off x="457199" y="754380"/>
            <a:ext cx="822959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后续四条工作线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199" y="1193292"/>
            <a:ext cx="8229599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1193292"/>
            <a:ext cx="1202076" cy="841248"/>
          </a:xfrm>
          <a:prstGeom prst="rect">
            <a:avLst/>
          </a:prstGeom>
          <a:solidFill>
            <a:srgbClr val="14B8A6">
              <a:alpha val="8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1193292"/>
            <a:ext cx="120207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684676" y="1266444"/>
            <a:ext cx="662066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清洗剩余剧本 / </a:t>
            </a:r>
            <a:r>
              <a:rPr lang="en-US" sz="90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完善结构化字段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199" y="2144268"/>
            <a:ext cx="8229599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2144268"/>
            <a:ext cx="1202076" cy="841248"/>
          </a:xfrm>
          <a:prstGeom prst="rect">
            <a:avLst/>
          </a:prstGeom>
          <a:solidFill>
            <a:srgbClr val="14B8A6">
              <a:alpha val="8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2144268"/>
            <a:ext cx="120207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687498" y="2224278"/>
            <a:ext cx="662066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完善 prompt / 工具预算 / </a:t>
            </a:r>
            <a:r>
              <a:rPr lang="en-US" sz="90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记忆更新策略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199" y="3095244"/>
            <a:ext cx="8229599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" y="3095244"/>
            <a:ext cx="1202076" cy="841248"/>
          </a:xfrm>
          <a:prstGeom prst="rect">
            <a:avLst/>
          </a:prstGeom>
          <a:solidFill>
            <a:srgbClr val="14B8A6">
              <a:alpha val="8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3095244"/>
            <a:ext cx="120207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684676" y="3168396"/>
            <a:ext cx="662066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短/长窗口 / 摘要 / 检索 / 结构化记忆消融  ·  LLM-as-a-judge </a:t>
            </a:r>
            <a:r>
              <a:rPr lang="en-US" sz="90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评估分析质量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199" y="4046220"/>
            <a:ext cx="8229599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7200" y="4046220"/>
            <a:ext cx="1202076" cy="841248"/>
          </a:xfrm>
          <a:prstGeom prst="rect">
            <a:avLst/>
          </a:prstGeom>
          <a:solidFill>
            <a:srgbClr val="14B8A6">
              <a:alpha val="85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046220"/>
            <a:ext cx="120207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</a:rPr>
              <a:t>分析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684676" y="4119372"/>
            <a:ext cx="662066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统一主 workflow / 运行恢复机制  ·  增强 trace 分析 / 改进解析错误处理  ·  逐步扩展到完整数据集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E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606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基于剧本叙事的长期对话情感识别基准与记忆增强 Agent 研究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0" y="3337560"/>
            <a:ext cx="36576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中期答辩  · 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1416</TotalTime>
  <Words>866</Words>
  <Application>Microsoft Macintosh PowerPoint</Application>
  <PresentationFormat>全屏显示(16:9)</PresentationFormat>
  <Paragraphs>235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Microsoft YaHei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基于剧本叙事的长期对话情感识别基准与记忆增强 Agent 研究</dc:title>
  <dc:subject>PptxGenJS Presentation</dc:subject>
  <dc:creator>PptxGenJS</dc:creator>
  <cp:lastModifiedBy>xuyao</cp:lastModifiedBy>
  <cp:revision>4</cp:revision>
  <dcterms:created xsi:type="dcterms:W3CDTF">2026-06-07T15:58:50Z</dcterms:created>
  <dcterms:modified xsi:type="dcterms:W3CDTF">2026-06-09T06:17:43Z</dcterms:modified>
</cp:coreProperties>
</file>