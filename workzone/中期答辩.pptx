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E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1097280"/>
            <a:ext cx="4114800" cy="4114800"/>
          </a:xfrm>
          <a:prstGeom prst="ellipse">
            <a:avLst/>
          </a:prstGeom>
          <a:solidFill>
            <a:srgbClr val="3B82F6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498080" y="-457200"/>
            <a:ext cx="2560320" cy="2560320"/>
          </a:xfrm>
          <a:prstGeom prst="ellipse">
            <a:avLst/>
          </a:prstGeom>
          <a:solidFill>
            <a:srgbClr val="60A5FA">
              <a:alpha val="2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914400" y="3657600"/>
            <a:ext cx="2743200" cy="2743200"/>
          </a:xfrm>
          <a:prstGeom prst="ellipse">
            <a:avLst/>
          </a:prstGeom>
          <a:solidFill>
            <a:srgbClr val="14B8A6">
              <a:alpha val="1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64008" cy="2286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914400"/>
            <a:ext cx="77724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基于剧本叙事的</a:t>
            </a:r>
            <a:endParaRPr lang="en-US" sz="3000" dirty="0"/>
          </a:p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长期对话情感识别</a:t>
            </a:r>
            <a:endParaRPr lang="en-US" sz="3000" dirty="0"/>
          </a:p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基准与记忆增强 Agent 研究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37490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0A5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Friends 剧本 · 在线记忆 · Tool-calling Agent · 长程情绪理解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43891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中期答辩  | 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11480" y="960120"/>
            <a:ext cx="4023360" cy="7498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9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11480" y="960120"/>
            <a:ext cx="64008" cy="7498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Text 3"/>
          <p:cNvSpPr/>
          <p:nvPr/>
        </p:nvSpPr>
        <p:spPr>
          <a:xfrm>
            <a:off x="521208" y="10241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14400" y="10058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研究背景与动机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134416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为什么研究长期对话情感识别？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11480" y="1920240"/>
            <a:ext cx="4023360" cy="7498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9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11480" y="1920240"/>
            <a:ext cx="64008" cy="7498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0" name="Text 8"/>
          <p:cNvSpPr/>
          <p:nvPr/>
        </p:nvSpPr>
        <p:spPr>
          <a:xfrm>
            <a:off x="521208" y="198424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914400" y="196596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研究目标与任务定义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14400" y="230428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任务边界与三大约束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11480" y="2880360"/>
            <a:ext cx="4023360" cy="7498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9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11480" y="2880360"/>
            <a:ext cx="64008" cy="7498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5" name="Text 13"/>
          <p:cNvSpPr/>
          <p:nvPr/>
        </p:nvSpPr>
        <p:spPr>
          <a:xfrm>
            <a:off x="521208" y="294436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914400" y="29260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数据集构建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14400" y="326440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Friends 剧本 · 长期依赖筛选 · 标注方案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11480" y="3840480"/>
            <a:ext cx="4023360" cy="7498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9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11480" y="3840480"/>
            <a:ext cx="64008" cy="7498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0" name="Text 18"/>
          <p:cNvSpPr/>
          <p:nvPr/>
        </p:nvSpPr>
        <p:spPr>
          <a:xfrm>
            <a:off x="521208" y="390448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914400" y="388620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情绪标签体系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14400" y="422452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个情绪标签 · 强度标注 · 理论依据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663440" y="960120"/>
            <a:ext cx="4023360" cy="7498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9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663440" y="960120"/>
            <a:ext cx="64008" cy="7498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5" name="Text 23"/>
          <p:cNvSpPr/>
          <p:nvPr/>
        </p:nvSpPr>
        <p:spPr>
          <a:xfrm>
            <a:off x="4773168" y="10241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166360" y="10058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AC Agent 架构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166360" y="134416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确定性外层 + Tool-calling 内层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663440" y="1920240"/>
            <a:ext cx="4023360" cy="7498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9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663440" y="1920240"/>
            <a:ext cx="64008" cy="7498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0" name="Text 28"/>
          <p:cNvSpPr/>
          <p:nvPr/>
        </p:nvSpPr>
        <p:spPr>
          <a:xfrm>
            <a:off x="4773168" y="198424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166360" y="196596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记忆结构设计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166360" y="230428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人物状态 · 事件索引 · 详细事件 · 当前事件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663440" y="2880360"/>
            <a:ext cx="4023360" cy="7498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9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663440" y="2880360"/>
            <a:ext cx="64008" cy="7498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5" name="Text 33"/>
          <p:cNvSpPr/>
          <p:nvPr/>
        </p:nvSpPr>
        <p:spPr>
          <a:xfrm>
            <a:off x="4773168" y="294436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166360" y="29260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实验结果与分析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166360" y="326440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当前实验对比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663440" y="3840480"/>
            <a:ext cx="4023360" cy="7498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9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4663440" y="3840480"/>
            <a:ext cx="64008" cy="7498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40" name="Text 38"/>
          <p:cNvSpPr/>
          <p:nvPr/>
        </p:nvSpPr>
        <p:spPr>
          <a:xfrm>
            <a:off x="4773168" y="390448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166360" y="388620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研究贡献与后续计划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166360" y="422452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下一阶段工作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 研究背景与动机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11480" y="868680"/>
            <a:ext cx="4114800" cy="3977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9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11480" y="868680"/>
            <a:ext cx="411480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96012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传统方法的局限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444752"/>
            <a:ext cx="137160" cy="13716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7" name="Text 5"/>
          <p:cNvSpPr/>
          <p:nvPr/>
        </p:nvSpPr>
        <p:spPr>
          <a:xfrm>
            <a:off x="713232" y="1389888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仅关注短上下文（当前句 / 前后若干轮）内的情绪判断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02920" y="2103120"/>
            <a:ext cx="137160" cy="13716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9" name="Text 7"/>
          <p:cNvSpPr/>
          <p:nvPr/>
        </p:nvSpPr>
        <p:spPr>
          <a:xfrm>
            <a:off x="713232" y="2048256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忽略长期人物关系、过往事件、未解决冲突的影响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2761488"/>
            <a:ext cx="137160" cy="13716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1" name="Text 9"/>
          <p:cNvSpPr/>
          <p:nvPr/>
        </p:nvSpPr>
        <p:spPr>
          <a:xfrm>
            <a:off x="713232" y="2706624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无法处理：讽刺掩饰痛苦、反常沉默源于冲突、玩笑隐藏内疚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3419856"/>
            <a:ext cx="137160" cy="13716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3" name="Text 11"/>
          <p:cNvSpPr/>
          <p:nvPr/>
        </p:nvSpPr>
        <p:spPr>
          <a:xfrm>
            <a:off x="713232" y="3364992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表面情绪 ≠ 说话人真实心理状态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709160" y="868680"/>
            <a:ext cx="4069080" cy="3977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9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868680"/>
            <a:ext cx="4069080" cy="6400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6" name="Text 14"/>
          <p:cNvSpPr/>
          <p:nvPr/>
        </p:nvSpPr>
        <p:spPr>
          <a:xfrm>
            <a:off x="4800600" y="96012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长期情绪理解的关键因素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800600" y="1463040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8" name="Text 16"/>
          <p:cNvSpPr/>
          <p:nvPr/>
        </p:nvSpPr>
        <p:spPr>
          <a:xfrm>
            <a:off x="5074920" y="1417320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人物关系历史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74920" y="1682496"/>
            <a:ext cx="3611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恋情、冲突、裂痕、嫉妒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800600" y="2121408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1" name="Text 19"/>
          <p:cNvSpPr/>
          <p:nvPr/>
        </p:nvSpPr>
        <p:spPr>
          <a:xfrm>
            <a:off x="5074920" y="2075688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过往重要事件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074920" y="2340864"/>
            <a:ext cx="3611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背叛、承诺、和解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800600" y="2779776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4" name="Text 22"/>
          <p:cNvSpPr/>
          <p:nvPr/>
        </p:nvSpPr>
        <p:spPr>
          <a:xfrm>
            <a:off x="5074920" y="2734056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稳定性格特质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074920" y="2999232"/>
            <a:ext cx="3611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讽刺习惯、防御性、回避倾向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800600" y="343814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7" name="Text 25"/>
          <p:cNvSpPr/>
          <p:nvPr/>
        </p:nvSpPr>
        <p:spPr>
          <a:xfrm>
            <a:off x="5074920" y="3392424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近期目标与压力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074920" y="3657600"/>
            <a:ext cx="3611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未解决的隐藏需求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800600" y="4096512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30" name="Text 28"/>
          <p:cNvSpPr/>
          <p:nvPr/>
        </p:nvSpPr>
        <p:spPr>
          <a:xfrm>
            <a:off x="5074920" y="4050792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隐藏情绪与伪装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074920" y="4315968"/>
            <a:ext cx="3611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以笑话掩盖恐惧、用沉默表达抵制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 研究目标与任务定义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11480" y="868680"/>
            <a:ext cx="8321040" cy="1325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9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11480" y="868680"/>
            <a:ext cx="64008" cy="13258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960120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目标一：构建长期情感识别基准数据集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94360" y="1344168"/>
            <a:ext cx="7955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 Friends 完整剧本为输入，筛选需要长期上下文才能准确判断情绪的候选台词，标注说话人真实情绪（而非表面情绪或剧情功能）。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2377440"/>
            <a:ext cx="8321040" cy="1325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9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11480" y="2377440"/>
            <a:ext cx="64008" cy="132588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2468880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目标二：设计记忆增强情感识别 Agent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94360" y="2852928"/>
            <a:ext cx="7955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按剧情顺序在线阅读剧本，预测第 t 句台词时，只能使用截至 t 时刻的信息，所有记忆必须在线增量构建。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39502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三大任务约束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11480" y="4343400"/>
            <a:ext cx="269748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9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11480" y="4343400"/>
            <a:ext cx="2697480" cy="6400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521208" y="4416552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在线约束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21208" y="466344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预测第 t 句时仅可用截至 t 的信息，记忆不可超前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291840" y="4343400"/>
            <a:ext cx="269748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9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91840" y="4343400"/>
            <a:ext cx="2697480" cy="6400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8" name="Text 16"/>
          <p:cNvSpPr/>
          <p:nvPr/>
        </p:nvSpPr>
        <p:spPr>
          <a:xfrm>
            <a:off x="3401568" y="4416552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真实情绪约束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401568" y="466344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目标是说话人真实心理状态，而非字面情绪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172200" y="4343400"/>
            <a:ext cx="269748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9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172200" y="4343400"/>
            <a:ext cx="2697480" cy="6400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2" name="Text 20"/>
          <p:cNvSpPr/>
          <p:nvPr/>
        </p:nvSpPr>
        <p:spPr>
          <a:xfrm>
            <a:off x="6281928" y="4416552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可解释约束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281928" y="466344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必须区分可观察事实、历史推断和不确定假设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数据集构建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11480" y="804672"/>
            <a:ext cx="1965960" cy="914400"/>
          </a:xfrm>
          <a:prstGeom prst="rect">
            <a:avLst/>
          </a:prstGeom>
          <a:solidFill>
            <a:srgbClr val="3B82F6"/>
          </a:solidFill>
          <a:ln/>
          <a:effectLst>
            <a:outerShdw sx="100000" sy="100000" kx="0" ky="0" algn="bl" rotWithShape="0" blurRad="101600" dist="38100" dir="8100000">
              <a:srgbClr val="000000">
                <a:alpha val="9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841248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60,000+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11480" y="1307592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BFD7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原始台词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2560320" y="804672"/>
            <a:ext cx="1965960" cy="914400"/>
          </a:xfrm>
          <a:prstGeom prst="rect">
            <a:avLst/>
          </a:prstGeom>
          <a:solidFill>
            <a:srgbClr val="3B82F6"/>
          </a:solidFill>
          <a:ln/>
          <a:effectLst>
            <a:outerShdw sx="100000" sy="100000" kx="0" ky="0" algn="bl" rotWithShape="0" blurRad="101600" dist="38100" dir="8100000">
              <a:srgbClr val="000000">
                <a:alpha val="9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560320" y="841248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8,000+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2560320" y="1307592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BFD7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场景说明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709160" y="804672"/>
            <a:ext cx="1965960" cy="914400"/>
          </a:xfrm>
          <a:prstGeom prst="rect">
            <a:avLst/>
          </a:prstGeom>
          <a:solidFill>
            <a:srgbClr val="3B82F6"/>
          </a:solidFill>
          <a:ln/>
          <a:effectLst>
            <a:outerShdw sx="100000" sy="100000" kx="0" ky="0" algn="bl" rotWithShape="0" blurRad="101600" dist="38100" dir="8100000">
              <a:srgbClr val="000000">
                <a:alpha val="9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09160" y="841248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8,000+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709160" y="1307592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BFD7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长期依赖候选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858000" y="804672"/>
            <a:ext cx="1965960" cy="914400"/>
          </a:xfrm>
          <a:prstGeom prst="rect">
            <a:avLst/>
          </a:prstGeom>
          <a:solidFill>
            <a:srgbClr val="3B82F6"/>
          </a:solidFill>
          <a:ln/>
          <a:effectLst>
            <a:outerShdw sx="100000" sy="100000" kx="0" ky="0" algn="bl" rotWithShape="0" blurRad="101600" dist="38100" dir="8100000">
              <a:srgbClr val="000000">
                <a:alpha val="9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858000" y="841248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858000" y="1307592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BFD7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已标注台词（第三季）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57200" y="187452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数据构建流程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11480" y="2304288"/>
            <a:ext cx="8321040" cy="80467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9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11480" y="2304288"/>
            <a:ext cx="457200" cy="804672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8" name="Text 16"/>
          <p:cNvSpPr/>
          <p:nvPr/>
        </p:nvSpPr>
        <p:spPr>
          <a:xfrm>
            <a:off x="411480" y="2304288"/>
            <a:ext cx="4572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005840" y="237744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原始剧本解析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005840" y="2670048"/>
            <a:ext cx="7406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提取台词、说话人、场景说明、动作描写、episode/scene 顺序标识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11480" y="3236976"/>
            <a:ext cx="8321040" cy="80467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9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11480" y="3236976"/>
            <a:ext cx="457200" cy="804672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3" name="Text 21"/>
          <p:cNvSpPr/>
          <p:nvPr/>
        </p:nvSpPr>
        <p:spPr>
          <a:xfrm>
            <a:off x="411480" y="3236976"/>
            <a:ext cx="4572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05840" y="3310128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长期依赖筛选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05840" y="3602736"/>
            <a:ext cx="7406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 50 句台词 + episode 简介，调用 LLM 判断是否需要长期上下文分析情感；按四类依赖模式提示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11480" y="4169664"/>
            <a:ext cx="8321040" cy="80467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9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11480" y="4169664"/>
            <a:ext cx="457200" cy="804672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8" name="Text 26"/>
          <p:cNvSpPr/>
          <p:nvPr/>
        </p:nvSpPr>
        <p:spPr>
          <a:xfrm>
            <a:off x="411480" y="4169664"/>
            <a:ext cx="4572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005840" y="4242816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 辅助标注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005840" y="4535424"/>
            <a:ext cx="7406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标注模型：GPT-5.5（thinking=high）</a:t>
            </a:r>
            <a:endParaRPr lang="en-US" sz="9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输入：目标台词全量前缀 + 集数简介</a:t>
            </a:r>
            <a:endParaRPr lang="en-US" sz="9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输出：情绪 / 强度 / 分析理由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 情绪标签体系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11480" y="841248"/>
            <a:ext cx="1133856" cy="749808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886968"/>
            <a:ext cx="11338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11480" y="1225296"/>
            <a:ext cx="11338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愤怒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636776" y="841248"/>
            <a:ext cx="1133856" cy="749808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7" name="Text 5"/>
          <p:cNvSpPr/>
          <p:nvPr/>
        </p:nvSpPr>
        <p:spPr>
          <a:xfrm>
            <a:off x="1636776" y="886968"/>
            <a:ext cx="11338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disgust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636776" y="1225296"/>
            <a:ext cx="11338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厌恶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862072" y="841248"/>
            <a:ext cx="1133856" cy="749808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10" name="Text 8"/>
          <p:cNvSpPr/>
          <p:nvPr/>
        </p:nvSpPr>
        <p:spPr>
          <a:xfrm>
            <a:off x="2862072" y="886968"/>
            <a:ext cx="11338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fear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862072" y="1225296"/>
            <a:ext cx="11338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恐惧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087368" y="841248"/>
            <a:ext cx="1133856" cy="749808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3" name="Text 11"/>
          <p:cNvSpPr/>
          <p:nvPr/>
        </p:nvSpPr>
        <p:spPr>
          <a:xfrm>
            <a:off x="4087368" y="886968"/>
            <a:ext cx="11338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happiness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087368" y="1225296"/>
            <a:ext cx="11338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快乐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312664" y="841248"/>
            <a:ext cx="1133856" cy="74980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6" name="Text 14"/>
          <p:cNvSpPr/>
          <p:nvPr/>
        </p:nvSpPr>
        <p:spPr>
          <a:xfrm>
            <a:off x="5312664" y="886968"/>
            <a:ext cx="11338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surprise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312664" y="1225296"/>
            <a:ext cx="11338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惊讶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537960" y="841248"/>
            <a:ext cx="1133856" cy="7498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9" name="Text 17"/>
          <p:cNvSpPr/>
          <p:nvPr/>
        </p:nvSpPr>
        <p:spPr>
          <a:xfrm>
            <a:off x="6537960" y="886968"/>
            <a:ext cx="11338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sadness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537960" y="1225296"/>
            <a:ext cx="11338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悲伤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763256" y="841248"/>
            <a:ext cx="1133856" cy="74980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2" name="Text 20"/>
          <p:cNvSpPr/>
          <p:nvPr/>
        </p:nvSpPr>
        <p:spPr>
          <a:xfrm>
            <a:off x="7763256" y="886968"/>
            <a:ext cx="11338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contentment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763256" y="1225296"/>
            <a:ext cx="11338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满足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11480" y="1755648"/>
            <a:ext cx="1133856" cy="7498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5" name="Text 23"/>
          <p:cNvSpPr/>
          <p:nvPr/>
        </p:nvSpPr>
        <p:spPr>
          <a:xfrm>
            <a:off x="411480" y="1801368"/>
            <a:ext cx="11338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relief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11480" y="2139696"/>
            <a:ext cx="11338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释然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1636776" y="1755648"/>
            <a:ext cx="1133856" cy="749808"/>
          </a:xfrm>
          <a:prstGeom prst="rect">
            <a:avLst/>
          </a:prstGeom>
          <a:solidFill>
            <a:srgbClr val="84CC16"/>
          </a:solidFill>
          <a:ln/>
        </p:spPr>
      </p:sp>
      <p:sp>
        <p:nvSpPr>
          <p:cNvPr id="28" name="Text 26"/>
          <p:cNvSpPr/>
          <p:nvPr/>
        </p:nvSpPr>
        <p:spPr>
          <a:xfrm>
            <a:off x="1636776" y="1801368"/>
            <a:ext cx="11338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636776" y="2139696"/>
            <a:ext cx="11338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兴趣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2862072" y="1755648"/>
            <a:ext cx="1133856" cy="749808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1" name="Text 29"/>
          <p:cNvSpPr/>
          <p:nvPr/>
        </p:nvSpPr>
        <p:spPr>
          <a:xfrm>
            <a:off x="2862072" y="1801368"/>
            <a:ext cx="11338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contempt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862072" y="2139696"/>
            <a:ext cx="11338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轻蔑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087368" y="1755648"/>
            <a:ext cx="1133856" cy="749808"/>
          </a:xfrm>
          <a:prstGeom prst="rect">
            <a:avLst/>
          </a:prstGeom>
          <a:solidFill>
            <a:srgbClr val="D946EF"/>
          </a:solidFill>
          <a:ln/>
        </p:spPr>
      </p:sp>
      <p:sp>
        <p:nvSpPr>
          <p:cNvPr id="34" name="Text 32"/>
          <p:cNvSpPr/>
          <p:nvPr/>
        </p:nvSpPr>
        <p:spPr>
          <a:xfrm>
            <a:off x="4087368" y="1801368"/>
            <a:ext cx="11338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shame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087368" y="2139696"/>
            <a:ext cx="11338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羞耻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5312664" y="1755648"/>
            <a:ext cx="1133856" cy="749808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7" name="Text 35"/>
          <p:cNvSpPr/>
          <p:nvPr/>
        </p:nvSpPr>
        <p:spPr>
          <a:xfrm>
            <a:off x="5312664" y="1801368"/>
            <a:ext cx="11338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guilt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312664" y="2139696"/>
            <a:ext cx="11338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内疚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537960" y="1755648"/>
            <a:ext cx="1133856" cy="749808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0" name="Text 38"/>
          <p:cNvSpPr/>
          <p:nvPr/>
        </p:nvSpPr>
        <p:spPr>
          <a:xfrm>
            <a:off x="6537960" y="1801368"/>
            <a:ext cx="11338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embarrass...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537960" y="2139696"/>
            <a:ext cx="11338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尴尬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7763256" y="1755648"/>
            <a:ext cx="1133856" cy="749808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43" name="Text 41"/>
          <p:cNvSpPr/>
          <p:nvPr/>
        </p:nvSpPr>
        <p:spPr>
          <a:xfrm>
            <a:off x="7763256" y="1801368"/>
            <a:ext cx="11338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7763256" y="2139696"/>
            <a:ext cx="11338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中性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457200" y="281635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强度标注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411480" y="3200400"/>
            <a:ext cx="1965960" cy="530352"/>
          </a:xfrm>
          <a:prstGeom prst="rect">
            <a:avLst/>
          </a:prstGeom>
          <a:solidFill>
            <a:srgbClr val="93C5FD"/>
          </a:solidFill>
          <a:ln/>
        </p:spPr>
      </p:sp>
      <p:sp>
        <p:nvSpPr>
          <p:cNvPr id="47" name="Text 45"/>
          <p:cNvSpPr/>
          <p:nvPr/>
        </p:nvSpPr>
        <p:spPr>
          <a:xfrm>
            <a:off x="411480" y="3200400"/>
            <a:ext cx="1965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low 弱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2560320" y="3200400"/>
            <a:ext cx="1965960" cy="530352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49" name="Text 47"/>
          <p:cNvSpPr/>
          <p:nvPr/>
        </p:nvSpPr>
        <p:spPr>
          <a:xfrm>
            <a:off x="2560320" y="3200400"/>
            <a:ext cx="1965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medium 中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4709160" y="3200400"/>
            <a:ext cx="1965960" cy="53035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51" name="Text 49"/>
          <p:cNvSpPr/>
          <p:nvPr/>
        </p:nvSpPr>
        <p:spPr>
          <a:xfrm>
            <a:off x="4709160" y="3200400"/>
            <a:ext cx="1965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high 强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6858000" y="3200400"/>
            <a:ext cx="1965960" cy="530352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53" name="Text 51"/>
          <p:cNvSpPr/>
          <p:nvPr/>
        </p:nvSpPr>
        <p:spPr>
          <a:xfrm>
            <a:off x="6858000" y="3200400"/>
            <a:ext cx="1965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none（仅 neutral）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411480" y="3886200"/>
            <a:ext cx="832104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9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411480" y="3886200"/>
            <a:ext cx="64008" cy="10058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56" name="Text 54"/>
          <p:cNvSpPr/>
          <p:nvPr/>
        </p:nvSpPr>
        <p:spPr>
          <a:xfrm>
            <a:off x="566928" y="3931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理论依据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566928" y="423367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 Ekman（六大基础情绪）、Izard（离散情绪理论，含 shame / contempt / guilt / interest）、Plutchik（情绪轮，进化功能视角）；不拘泥于任一理论，根据长期对话任务需求定制，额外保留社会性情绪与自我意识情绪。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E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0A5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 AC Agent 架构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3931920" cy="38404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804672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确定性外层 Workflow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298448"/>
            <a:ext cx="3931920" cy="658368"/>
          </a:xfrm>
          <a:prstGeom prst="rect">
            <a:avLst/>
          </a:prstGeom>
          <a:solidFill>
            <a:srgbClr val="1A2E52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298448"/>
            <a:ext cx="54864" cy="658368"/>
          </a:xfrm>
          <a:prstGeom prst="rect">
            <a:avLst/>
          </a:prstGeom>
          <a:solidFill>
            <a:srgbClr val="60A5FA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1298448"/>
            <a:ext cx="320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" y="1371600"/>
            <a:ext cx="34015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FriendsTranscriptChunkSource 按顺序读取 description / utterance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65760" y="2103120"/>
            <a:ext cx="3931920" cy="658368"/>
          </a:xfrm>
          <a:prstGeom prst="rect">
            <a:avLst/>
          </a:prstGeom>
          <a:solidFill>
            <a:srgbClr val="1A2E52"/>
          </a:solidFill>
          <a:ln/>
        </p:spPr>
      </p:sp>
      <p:sp>
        <p:nvSpPr>
          <p:cNvPr id="10" name="Shape 8"/>
          <p:cNvSpPr/>
          <p:nvPr/>
        </p:nvSpPr>
        <p:spPr>
          <a:xfrm>
            <a:off x="365760" y="2103120"/>
            <a:ext cx="54864" cy="658368"/>
          </a:xfrm>
          <a:prstGeom prst="rect">
            <a:avLst/>
          </a:prstGeom>
          <a:solidFill>
            <a:srgbClr val="60A5F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" y="2103120"/>
            <a:ext cx="320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04672" y="2176272"/>
            <a:ext cx="34015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普通 utterance 累积到 batch_size → update_memory chunk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65760" y="2907792"/>
            <a:ext cx="3931920" cy="658368"/>
          </a:xfrm>
          <a:prstGeom prst="rect">
            <a:avLst/>
          </a:prstGeom>
          <a:solidFill>
            <a:srgbClr val="1A2E52"/>
          </a:solidFill>
          <a:ln/>
        </p:spPr>
      </p:sp>
      <p:sp>
        <p:nvSpPr>
          <p:cNvPr id="14" name="Shape 12"/>
          <p:cNvSpPr/>
          <p:nvPr/>
        </p:nvSpPr>
        <p:spPr>
          <a:xfrm>
            <a:off x="365760" y="2907792"/>
            <a:ext cx="54864" cy="658368"/>
          </a:xfrm>
          <a:prstGeom prst="rect">
            <a:avLst/>
          </a:prstGeom>
          <a:solidFill>
            <a:srgbClr val="60A5FA"/>
          </a:solidFill>
          <a:ln/>
        </p:spPr>
      </p:sp>
      <p:sp>
        <p:nvSpPr>
          <p:cNvPr id="15" name="Text 13"/>
          <p:cNvSpPr/>
          <p:nvPr/>
        </p:nvSpPr>
        <p:spPr>
          <a:xfrm>
            <a:off x="475488" y="2907792"/>
            <a:ext cx="320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04672" y="2980944"/>
            <a:ext cx="34015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long_context_selected=true 的 utterance → label chunk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65760" y="3712464"/>
            <a:ext cx="3931920" cy="658368"/>
          </a:xfrm>
          <a:prstGeom prst="rect">
            <a:avLst/>
          </a:prstGeom>
          <a:solidFill>
            <a:srgbClr val="1A2E52"/>
          </a:solidFill>
          <a:ln/>
        </p:spPr>
      </p:sp>
      <p:sp>
        <p:nvSpPr>
          <p:cNvPr id="18" name="Shape 16"/>
          <p:cNvSpPr/>
          <p:nvPr/>
        </p:nvSpPr>
        <p:spPr>
          <a:xfrm>
            <a:off x="365760" y="3712464"/>
            <a:ext cx="54864" cy="658368"/>
          </a:xfrm>
          <a:prstGeom prst="rect">
            <a:avLst/>
          </a:prstGeom>
          <a:solidFill>
            <a:srgbClr val="60A5FA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" y="3712464"/>
            <a:ext cx="320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04672" y="3785616"/>
            <a:ext cx="34015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WorkflowRunner 分派到 MemoryUpdateLoop 或 LabelLoop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72000" y="804672"/>
            <a:ext cx="4206240" cy="384048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0" y="804672"/>
            <a:ext cx="4206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Tool-calling 内层循环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0" y="1298448"/>
            <a:ext cx="4206240" cy="749808"/>
          </a:xfrm>
          <a:prstGeom prst="rect">
            <a:avLst/>
          </a:prstGeom>
          <a:solidFill>
            <a:srgbClr val="0D2A2A"/>
          </a:solidFill>
          <a:ln/>
        </p:spPr>
      </p:sp>
      <p:sp>
        <p:nvSpPr>
          <p:cNvPr id="24" name="Shape 22"/>
          <p:cNvSpPr/>
          <p:nvPr/>
        </p:nvSpPr>
        <p:spPr>
          <a:xfrm>
            <a:off x="4572000" y="1298448"/>
            <a:ext cx="54864" cy="749808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5" name="Text 23"/>
          <p:cNvSpPr/>
          <p:nvPr/>
        </p:nvSpPr>
        <p:spPr>
          <a:xfrm>
            <a:off x="4700016" y="137160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search_events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700016" y="1645920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94D9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 query/人物/关键词 检索事件索引，返回候选摘要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572000" y="2194560"/>
            <a:ext cx="4206240" cy="749808"/>
          </a:xfrm>
          <a:prstGeom prst="rect">
            <a:avLst/>
          </a:prstGeom>
          <a:solidFill>
            <a:srgbClr val="0D2A2A"/>
          </a:solidFill>
          <a:ln/>
        </p:spPr>
      </p:sp>
      <p:sp>
        <p:nvSpPr>
          <p:cNvPr id="28" name="Shape 26"/>
          <p:cNvSpPr/>
          <p:nvPr/>
        </p:nvSpPr>
        <p:spPr>
          <a:xfrm>
            <a:off x="4572000" y="2194560"/>
            <a:ext cx="54864" cy="749808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9" name="Text 27"/>
          <p:cNvSpPr/>
          <p:nvPr/>
        </p:nvSpPr>
        <p:spPr>
          <a:xfrm>
            <a:off x="4700016" y="226771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read_event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700016" y="2542032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94D9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读取某事件的详细描述（每次最多 3 个）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572000" y="3090672"/>
            <a:ext cx="4206240" cy="749808"/>
          </a:xfrm>
          <a:prstGeom prst="rect">
            <a:avLst/>
          </a:prstGeom>
          <a:solidFill>
            <a:srgbClr val="0D2A2A"/>
          </a:solidFill>
          <a:ln/>
        </p:spPr>
      </p:sp>
      <p:sp>
        <p:nvSpPr>
          <p:cNvPr id="32" name="Shape 30"/>
          <p:cNvSpPr/>
          <p:nvPr/>
        </p:nvSpPr>
        <p:spPr>
          <a:xfrm>
            <a:off x="4572000" y="3090672"/>
            <a:ext cx="54864" cy="749808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3" name="Text 31"/>
          <p:cNvSpPr/>
          <p:nvPr/>
        </p:nvSpPr>
        <p:spPr>
          <a:xfrm>
            <a:off x="4700016" y="3163824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update_memory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700016" y="3438144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94D9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delta 写入人物状态、关系、事件索引和详细事件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572000" y="4041648"/>
            <a:ext cx="4206240" cy="868680"/>
          </a:xfrm>
          <a:prstGeom prst="rect">
            <a:avLst/>
          </a:prstGeom>
          <a:solidFill>
            <a:srgbClr val="0D2A2A"/>
          </a:solidFill>
          <a:ln/>
        </p:spPr>
      </p:sp>
      <p:sp>
        <p:nvSpPr>
          <p:cNvPr id="36" name="Shape 34"/>
          <p:cNvSpPr/>
          <p:nvPr/>
        </p:nvSpPr>
        <p:spPr>
          <a:xfrm>
            <a:off x="4572000" y="4041648"/>
            <a:ext cx="54864" cy="8686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7" name="Text 35"/>
          <p:cNvSpPr/>
          <p:nvPr/>
        </p:nvSpPr>
        <p:spPr>
          <a:xfrm>
            <a:off x="4700016" y="409651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设计优势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4700016" y="438912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检索行为可记录 / 可复现 / 可消融；避免把全量历史文本无差别塞入 prompt；Agent 需要显式决定「检索什么、读取什么」。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 记忆结构设计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11480" y="804672"/>
            <a:ext cx="416052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9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11480" y="804672"/>
            <a:ext cx="4160520" cy="347472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Text 3"/>
          <p:cNvSpPr/>
          <p:nvPr/>
        </p:nvSpPr>
        <p:spPr>
          <a:xfrm>
            <a:off x="521208" y="85039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人物状态 CharacterState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21208" y="1225296"/>
            <a:ext cx="3913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character / version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21208" y="1453896"/>
            <a:ext cx="3913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recent_events：近期事件摘要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21208" y="1682496"/>
            <a:ext cx="3913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short_term_traits：临时目标/压力/情绪基调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21208" y="1911096"/>
            <a:ext cx="3913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long_term_traits：人格/行为模式/稳定脆弱点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21208" y="2139696"/>
            <a:ext cx="3913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relationships：人际关系状态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11480" y="2468880"/>
            <a:ext cx="4160520" cy="347472"/>
          </a:xfrm>
          <a:prstGeom prst="rect">
            <a:avLst/>
          </a:prstGeom>
          <a:solidFill>
            <a:srgbClr val="3B82F6">
              <a:alpha val="12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249631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高度压缩，预测时全量输入；按 fact / inference / uncertain 区分事实类型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800600" y="804672"/>
            <a:ext cx="416052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9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800600" y="804672"/>
            <a:ext cx="4160520" cy="34747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15" name="Text 13"/>
          <p:cNvSpPr/>
          <p:nvPr/>
        </p:nvSpPr>
        <p:spPr>
          <a:xfrm>
            <a:off x="4910328" y="85039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事件索引 EventIndex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910328" y="1225296"/>
            <a:ext cx="3913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event_id / scene_id / time_label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910328" y="1453896"/>
            <a:ext cx="3913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location / characters / keywords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910328" y="1682496"/>
            <a:ext cx="3913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short_summary + importance (1–5)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910328" y="1911096"/>
            <a:ext cx="3913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knowledge_scope：谁知道这件事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910328" y="2139696"/>
            <a:ext cx="3913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detail_id：指向详细事件记忆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800600" y="2468880"/>
            <a:ext cx="4160520" cy="347472"/>
          </a:xfrm>
          <a:prstGeom prst="rect">
            <a:avLst/>
          </a:prstGeom>
          <a:solidFill>
            <a:srgbClr val="14B8A6">
              <a:alpha val="12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4892040" y="249631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轻量检索入口；后续可加入 embedding 混合检索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11480" y="2953512"/>
            <a:ext cx="416052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9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11480" y="2953512"/>
            <a:ext cx="4160520" cy="34747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5" name="Text 23"/>
          <p:cNvSpPr/>
          <p:nvPr/>
        </p:nvSpPr>
        <p:spPr>
          <a:xfrm>
            <a:off x="521208" y="29992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详细事件 EventDetail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21208" y="3374136"/>
            <a:ext cx="3913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detail_id / event_id / description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21208" y="3602736"/>
            <a:ext cx="3913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scene_id / time_label / location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21208" y="3831336"/>
            <a:ext cx="3913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knowledge_scope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11480" y="4617720"/>
            <a:ext cx="4160520" cy="347472"/>
          </a:xfrm>
          <a:prstGeom prst="rect">
            <a:avLst/>
          </a:prstGeom>
          <a:solidFill>
            <a:srgbClr val="F59E0B">
              <a:alpha val="1200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502920" y="464515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不默认进入 prompt；Agent 需显式调用 read_event；每次最多读 3 个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800600" y="2953512"/>
            <a:ext cx="416052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9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800600" y="2953512"/>
            <a:ext cx="4160520" cy="347472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33" name="Text 31"/>
          <p:cNvSpPr/>
          <p:nvPr/>
        </p:nvSpPr>
        <p:spPr>
          <a:xfrm>
            <a:off x="4910328" y="29992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当前事件 CurrentEventState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4910328" y="3374136"/>
            <a:ext cx="3913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scene_id / time_label / location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910328" y="3602736"/>
            <a:ext cx="3913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summary：scene 内已发生内容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910328" y="3831336"/>
            <a:ext cx="3913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characters / knowledge_scope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00600" y="4617720"/>
            <a:ext cx="4160520" cy="347472"/>
          </a:xfrm>
          <a:prstGeom prst="rect">
            <a:avLst/>
          </a:prstGeom>
          <a:solidFill>
            <a:srgbClr val="EC4899">
              <a:alpha val="12000"/>
            </a:srgbClr>
          </a:solidFill>
          <a:ln/>
        </p:spPr>
      </p:sp>
      <p:sp>
        <p:nvSpPr>
          <p:cNvPr id="38" name="Text 36"/>
          <p:cNvSpPr/>
          <p:nvPr/>
        </p:nvSpPr>
        <p:spPr>
          <a:xfrm>
            <a:off x="4892040" y="464515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始终作为近距离上下文输入；优先级高于历史详细事件；scene 切换时重置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 实验结果与分析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11480" y="804672"/>
            <a:ext cx="8321040" cy="685800"/>
          </a:xfrm>
          <a:prstGeom prst="rect">
            <a:avLst/>
          </a:prstGeom>
          <a:solidFill>
            <a:srgbClr val="EFF6FF"/>
          </a:solidFill>
          <a:ln/>
          <a:effectLst>
            <a:outerShdw sx="100000" sy="100000" kx="0" ky="0" algn="bl" rotWithShape="0" blurRad="101600" dist="38100" dir="8100000">
              <a:srgbClr val="000000">
                <a:alpha val="9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11480" y="804672"/>
            <a:ext cx="54864" cy="6858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850392"/>
            <a:ext cx="8028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实验设置：替换人物姓名，针对已标注 300 句第三季台词，分别运行 15句上下文基线 和 AC Agent，比较情绪预测结果。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11480" y="1627632"/>
            <a:ext cx="4160520" cy="38404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1627632"/>
            <a:ext cx="4160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 句上下文基线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11480" y="2084832"/>
            <a:ext cx="416052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9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48640" y="2176272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多标签集合完全一致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3063240" y="2176272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/ 300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840480" y="2176272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26.67%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11480" y="2834640"/>
            <a:ext cx="4160520" cy="658368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8100000">
              <a:srgbClr val="000000">
                <a:alpha val="9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48640" y="2926080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单标签重叠（有任一交集）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063240" y="2926080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212 / 300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840480" y="2926080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70.67%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1480" y="3584448"/>
            <a:ext cx="416052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9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48640" y="3675888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完全无重叠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3063240" y="3675888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 / 300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3840480" y="3675888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29.33%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754880" y="1627632"/>
            <a:ext cx="4160520" cy="384048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1" name="Text 19"/>
          <p:cNvSpPr/>
          <p:nvPr/>
        </p:nvSpPr>
        <p:spPr>
          <a:xfrm>
            <a:off x="4754880" y="1627632"/>
            <a:ext cx="4160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AC Agent（当前版本）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754880" y="2084832"/>
            <a:ext cx="416052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9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92040" y="2176272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多标签集合完全一致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406640" y="2176272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183880" y="2176272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待更新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754880" y="2834640"/>
            <a:ext cx="4160520" cy="658368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8100000">
              <a:srgbClr val="000000">
                <a:alpha val="9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4892040" y="2926080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单标签重叠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406640" y="2926080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8183880" y="2926080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待更新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54880" y="3584448"/>
            <a:ext cx="416052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9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92040" y="3675888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完全无重叠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7406640" y="3675888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8183880" y="3675888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待更新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11480" y="4572000"/>
            <a:ext cx="8321040" cy="411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9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566928" y="4617720"/>
            <a:ext cx="8046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⚠️  当前实验较局限；AC Agent 完整结果待系统性消融实验补充，包括短窗口 / 长窗口 / 摘要记忆 / 检索记忆 / 结构化记忆对照。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  研究贡献与后续计划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11480" y="804672"/>
            <a:ext cx="4023360" cy="3657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804672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五大研究贡献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243584"/>
            <a:ext cx="4023360" cy="5669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9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75488" y="1408176"/>
            <a:ext cx="237744" cy="237744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1408176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04672" y="1335024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提出基于剧本的长期对话情感识别任务设定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11480" y="1911096"/>
            <a:ext cx="4023360" cy="5669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9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" y="2075688"/>
            <a:ext cx="237744" cy="237744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" y="2075688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04672" y="2002536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构建 Friends 长期情绪理解基准数据集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11480" y="2578608"/>
            <a:ext cx="4023360" cy="5669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9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75488" y="2743200"/>
            <a:ext cx="237744" cy="237744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5" name="Text 13"/>
          <p:cNvSpPr/>
          <p:nvPr/>
        </p:nvSpPr>
        <p:spPr>
          <a:xfrm>
            <a:off x="475488" y="2743200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04672" y="2670048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设计适合长期对话的 14 标签情绪体系（含强度）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11480" y="3246120"/>
            <a:ext cx="4023360" cy="5669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9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" y="3410712"/>
            <a:ext cx="237744" cy="237744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" y="3410712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04672" y="333756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提出 AC Agent 在线增量记忆架构原型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11480" y="3913632"/>
            <a:ext cx="4023360" cy="5669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9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75488" y="4078224"/>
            <a:ext cx="237744" cy="237744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23" name="Text 21"/>
          <p:cNvSpPr/>
          <p:nvPr/>
        </p:nvSpPr>
        <p:spPr>
          <a:xfrm>
            <a:off x="475488" y="4078224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04672" y="4005072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提供可复现实验日志（记忆版本 / 工具调用 / LLM I/O）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663440" y="804672"/>
            <a:ext cx="4069080" cy="36576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6" name="Text 24"/>
          <p:cNvSpPr/>
          <p:nvPr/>
        </p:nvSpPr>
        <p:spPr>
          <a:xfrm>
            <a:off x="4663440" y="804672"/>
            <a:ext cx="4069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后续四条工作线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663440" y="1243584"/>
            <a:ext cx="4069080" cy="84124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9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663440" y="1243584"/>
            <a:ext cx="594360" cy="841248"/>
          </a:xfrm>
          <a:prstGeom prst="rect">
            <a:avLst/>
          </a:prstGeom>
          <a:solidFill>
            <a:srgbClr val="14B8A6">
              <a:alpha val="85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4663440" y="1243584"/>
            <a:ext cx="59436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349240" y="1316736"/>
            <a:ext cx="32735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清洗剩余剧本 / 完善结构化字段  ·  长期依赖候选分层 + 人工抽查  ·  形成 train / val / test 划分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63440" y="2194560"/>
            <a:ext cx="4069080" cy="84124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9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663440" y="2194560"/>
            <a:ext cx="594360" cy="841248"/>
          </a:xfrm>
          <a:prstGeom prst="rect">
            <a:avLst/>
          </a:prstGeom>
          <a:solidFill>
            <a:srgbClr val="14B8A6">
              <a:alpha val="85000"/>
            </a:srgbClr>
          </a:solidFill>
          <a:ln/>
        </p:spPr>
      </p:sp>
      <p:sp>
        <p:nvSpPr>
          <p:cNvPr id="33" name="Text 31"/>
          <p:cNvSpPr/>
          <p:nvPr/>
        </p:nvSpPr>
        <p:spPr>
          <a:xfrm>
            <a:off x="4663440" y="2194560"/>
            <a:ext cx="59436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349240" y="2267712"/>
            <a:ext cx="32735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完善 prompt / 工具预算 / 记忆更新策略  ·  实现 memory compression  ·  比较 cheap_update vs reasoning 模型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663440" y="3145536"/>
            <a:ext cx="4069080" cy="84124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9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663440" y="3145536"/>
            <a:ext cx="594360" cy="841248"/>
          </a:xfrm>
          <a:prstGeom prst="rect">
            <a:avLst/>
          </a:prstGeom>
          <a:solidFill>
            <a:srgbClr val="14B8A6">
              <a:alpha val="85000"/>
            </a:srgbClr>
          </a:solidFill>
          <a:ln/>
        </p:spPr>
      </p:sp>
      <p:sp>
        <p:nvSpPr>
          <p:cNvPr id="37" name="Text 35"/>
          <p:cNvSpPr/>
          <p:nvPr/>
        </p:nvSpPr>
        <p:spPr>
          <a:xfrm>
            <a:off x="4663440" y="3145536"/>
            <a:ext cx="59436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评测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349240" y="3218688"/>
            <a:ext cx="32735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短/长窗口 / 摘要 / 检索 / 结构化记忆消融  ·  LLM-as-a-judge 评估分析质量  ·  按长程类型分层报告错误分析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663440" y="4096512"/>
            <a:ext cx="4069080" cy="84124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9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4663440" y="4096512"/>
            <a:ext cx="594360" cy="841248"/>
          </a:xfrm>
          <a:prstGeom prst="rect">
            <a:avLst/>
          </a:prstGeom>
          <a:solidFill>
            <a:srgbClr val="14B8A6">
              <a:alpha val="85000"/>
            </a:srgbClr>
          </a:solidFill>
          <a:ln/>
        </p:spPr>
      </p:sp>
      <p:sp>
        <p:nvSpPr>
          <p:cNvPr id="41" name="Text 39"/>
          <p:cNvSpPr/>
          <p:nvPr/>
        </p:nvSpPr>
        <p:spPr>
          <a:xfrm>
            <a:off x="4663440" y="4096512"/>
            <a:ext cx="59436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349240" y="4169664"/>
            <a:ext cx="32735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统一主 workflow / 运行恢复机制  ·  增强 trace 分析 / 改进解析错误处理  ·  逐步扩展到完整数据集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E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1371600"/>
            <a:ext cx="5486400" cy="5486400"/>
          </a:xfrm>
          <a:prstGeom prst="ellipse">
            <a:avLst/>
          </a:prstGeom>
          <a:solidFill>
            <a:srgbClr val="3B82F6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2743200"/>
            <a:ext cx="3657600" cy="3657600"/>
          </a:xfrm>
          <a:prstGeom prst="ellipse">
            <a:avLst/>
          </a:prstGeom>
          <a:solidFill>
            <a:srgbClr val="14B8A6">
              <a:alpha val="12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感谢聆听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914400" y="260604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0A5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基于剧本叙事的长期对话情感识别基准与记忆增强 Agent 研究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43200" y="3337560"/>
            <a:ext cx="3657600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34747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中期答辩  ·  2026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基于剧本叙事的长期对话情感识别基准与记忆增强 Agent 研究</dc:title>
  <dc:subject>PptxGenJS Presentation</dc:subject>
  <dc:creator>PptxGenJS</dc:creator>
  <cp:lastModifiedBy>PptxGenJS</cp:lastModifiedBy>
  <cp:revision>1</cp:revision>
  <dcterms:created xsi:type="dcterms:W3CDTF">2026-06-07T15:58:50Z</dcterms:created>
  <dcterms:modified xsi:type="dcterms:W3CDTF">2026-06-07T15:58:50Z</dcterms:modified>
</cp:coreProperties>
</file>