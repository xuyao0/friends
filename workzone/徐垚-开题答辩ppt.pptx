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notesMasterIdLst>
    <p:notesMasterId r:id="rId21"/>
  </p:notesMasterIdLst>
  <p:sldIdLst>
    <p:sldId id="301" r:id="rId3"/>
    <p:sldId id="257" r:id="rId4"/>
    <p:sldId id="271" r:id="rId5"/>
    <p:sldId id="334" r:id="rId6"/>
    <p:sldId id="351" r:id="rId7"/>
    <p:sldId id="352" r:id="rId8"/>
    <p:sldId id="339" r:id="rId9"/>
    <p:sldId id="302" r:id="rId10"/>
    <p:sldId id="345" r:id="rId11"/>
    <p:sldId id="346" r:id="rId12"/>
    <p:sldId id="347" r:id="rId13"/>
    <p:sldId id="353" r:id="rId14"/>
    <p:sldId id="303" r:id="rId15"/>
    <p:sldId id="348" r:id="rId16"/>
    <p:sldId id="349" r:id="rId17"/>
    <p:sldId id="304" r:id="rId18"/>
    <p:sldId id="350" r:id="rId19"/>
    <p:sldId id="273" r:id="rId20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9933"/>
    <a:srgbClr val="E7E6E6"/>
    <a:srgbClr val="004F8A"/>
    <a:srgbClr val="335899"/>
    <a:srgbClr val="3F6AB7"/>
    <a:srgbClr val="7991CE"/>
    <a:srgbClr val="B3BEDF"/>
    <a:srgbClr val="0171C5"/>
    <a:srgbClr val="7E3A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29" autoAdjust="0"/>
    <p:restoredTop sz="88110" autoAdjust="0"/>
  </p:normalViewPr>
  <p:slideViewPr>
    <p:cSldViewPr snapToGrid="0" showGuides="1">
      <p:cViewPr varScale="1">
        <p:scale>
          <a:sx n="75" d="100"/>
          <a:sy n="75" d="100"/>
        </p:scale>
        <p:origin x="65" y="970"/>
      </p:cViewPr>
      <p:guideLst>
        <p:guide orient="horz" pos="219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A6475-0DFC-4822-9317-9AC5CFF0C646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8C55FB-D83B-4A29-8222-F2D56DA560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143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8C55FB-D83B-4A29-8222-F2D56DA560F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64599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8C55FB-D83B-4A29-8222-F2D56DA560F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795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8C55FB-D83B-4A29-8222-F2D56DA560F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38350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8C55FB-D83B-4A29-8222-F2D56DA560F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12906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800" kern="100" dirty="0">
              <a:effectLst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8C55FB-D83B-4A29-8222-F2D56DA560F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36654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800" kern="100" dirty="0">
              <a:effectLst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1800" kern="100" dirty="0">
              <a:effectLst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8C55FB-D83B-4A29-8222-F2D56DA560F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4738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8C55FB-D83B-4A29-8222-F2D56DA560F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72987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8C55FB-D83B-4A29-8222-F2D56DA560F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32403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8C55FB-D83B-4A29-8222-F2D56DA560F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24412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8C55FB-D83B-4A29-8222-F2D56DA560F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04870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8C55FB-D83B-4A29-8222-F2D56DA560F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4423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 userDrawn="1"/>
        </p:nvSpPr>
        <p:spPr>
          <a:xfrm>
            <a:off x="2019869" y="5501898"/>
            <a:ext cx="10172131" cy="1284102"/>
          </a:xfrm>
          <a:prstGeom prst="roundRect">
            <a:avLst>
              <a:gd name="adj" fmla="val 0"/>
            </a:avLst>
          </a:prstGeom>
          <a:solidFill>
            <a:srgbClr val="004F8A">
              <a:alpha val="9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 userDrawn="1"/>
        </p:nvSpPr>
        <p:spPr>
          <a:xfrm>
            <a:off x="0" y="5501898"/>
            <a:ext cx="3048000" cy="1284102"/>
          </a:xfrm>
          <a:custGeom>
            <a:avLst/>
            <a:gdLst>
              <a:gd name="connsiteX0" fmla="*/ 0 w 3036468"/>
              <a:gd name="connsiteY0" fmla="*/ 0 h 1800000"/>
              <a:gd name="connsiteX1" fmla="*/ 3036468 w 3036468"/>
              <a:gd name="connsiteY1" fmla="*/ 0 h 1800000"/>
              <a:gd name="connsiteX2" fmla="*/ 2061536 w 3036468"/>
              <a:gd name="connsiteY2" fmla="*/ 1800000 h 1800000"/>
              <a:gd name="connsiteX3" fmla="*/ 0 w 3036468"/>
              <a:gd name="connsiteY3" fmla="*/ 1800000 h 18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36468" h="1800000">
                <a:moveTo>
                  <a:pt x="0" y="0"/>
                </a:moveTo>
                <a:lnTo>
                  <a:pt x="3036468" y="0"/>
                </a:lnTo>
                <a:lnTo>
                  <a:pt x="2061536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0171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0" y="5429898"/>
            <a:ext cx="12192000" cy="72000"/>
          </a:xfrm>
          <a:prstGeom prst="rect">
            <a:avLst/>
          </a:prstGeom>
          <a:solidFill>
            <a:srgbClr val="0171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0171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743201" y="5970198"/>
            <a:ext cx="9448799" cy="522360"/>
          </a:xfrm>
        </p:spPr>
        <p:txBody>
          <a:bodyPr anchor="ctr"/>
          <a:lstStyle>
            <a:lvl1pPr algn="l">
              <a:defRPr sz="6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DB26E-7550-4A68-B9ED-0930F4C79F79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BC2DF-976F-4C49-92B9-E79BD60CFE9D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62" y="5611454"/>
            <a:ext cx="1100407" cy="11036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 9"/>
          <p:cNvSpPr/>
          <p:nvPr userDrawn="1"/>
        </p:nvSpPr>
        <p:spPr>
          <a:xfrm>
            <a:off x="0" y="72000"/>
            <a:ext cx="1095825" cy="914400"/>
          </a:xfrm>
          <a:custGeom>
            <a:avLst/>
            <a:gdLst>
              <a:gd name="connsiteX0" fmla="*/ 0 w 1095825"/>
              <a:gd name="connsiteY0" fmla="*/ 0 h 914400"/>
              <a:gd name="connsiteX1" fmla="*/ 1095825 w 1095825"/>
              <a:gd name="connsiteY1" fmla="*/ 0 h 914400"/>
              <a:gd name="connsiteX2" fmla="*/ 608144 w 1095825"/>
              <a:gd name="connsiteY2" fmla="*/ 914400 h 914400"/>
              <a:gd name="connsiteX3" fmla="*/ 0 w 1095825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95825" h="914400">
                <a:moveTo>
                  <a:pt x="0" y="0"/>
                </a:moveTo>
                <a:lnTo>
                  <a:pt x="1095825" y="0"/>
                </a:lnTo>
                <a:lnTo>
                  <a:pt x="608144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004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2192000" cy="72000"/>
          </a:xfrm>
          <a:prstGeom prst="rect">
            <a:avLst/>
          </a:prstGeom>
          <a:solidFill>
            <a:srgbClr val="004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5824" y="72000"/>
            <a:ext cx="10257975" cy="914400"/>
          </a:xfr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DB26E-7550-4A68-B9ED-0930F4C79F79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BC2DF-976F-4C49-92B9-E79BD60CFE9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004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62" y="238790"/>
            <a:ext cx="528467" cy="5300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rgbClr val="004F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DB26E-7550-4A68-B9ED-0930F4C79F79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BC2DF-976F-4C49-92B9-E79BD60CFE9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813176" cy="6858000"/>
          </a:xfrm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/>
        </p:nvSpPr>
        <p:spPr>
          <a:xfrm>
            <a:off x="0" y="72000"/>
            <a:ext cx="1095825" cy="914400"/>
          </a:xfrm>
          <a:custGeom>
            <a:avLst/>
            <a:gdLst>
              <a:gd name="connsiteX0" fmla="*/ 0 w 1095825"/>
              <a:gd name="connsiteY0" fmla="*/ 0 h 914400"/>
              <a:gd name="connsiteX1" fmla="*/ 1095825 w 1095825"/>
              <a:gd name="connsiteY1" fmla="*/ 0 h 914400"/>
              <a:gd name="connsiteX2" fmla="*/ 608144 w 1095825"/>
              <a:gd name="connsiteY2" fmla="*/ 914400 h 914400"/>
              <a:gd name="connsiteX3" fmla="*/ 0 w 1095825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95825" h="914400">
                <a:moveTo>
                  <a:pt x="0" y="0"/>
                </a:moveTo>
                <a:lnTo>
                  <a:pt x="1095825" y="0"/>
                </a:lnTo>
                <a:lnTo>
                  <a:pt x="608144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004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0" y="0"/>
            <a:ext cx="12192000" cy="72000"/>
          </a:xfrm>
          <a:prstGeom prst="rect">
            <a:avLst/>
          </a:prstGeom>
          <a:solidFill>
            <a:srgbClr val="004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5824" y="72000"/>
            <a:ext cx="10257975" cy="914400"/>
          </a:xfr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DB26E-7550-4A68-B9ED-0930F4C79F79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BC2DF-976F-4C49-92B9-E79BD60CFE9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004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62" y="238790"/>
            <a:ext cx="528467" cy="5300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DB26E-7550-4A68-B9ED-0930F4C79F79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BC2DF-976F-4C49-92B9-E79BD60CFE9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0"/>
            <a:ext cx="12192000" cy="72000"/>
          </a:xfrm>
          <a:prstGeom prst="rect">
            <a:avLst/>
          </a:prstGeom>
          <a:solidFill>
            <a:srgbClr val="004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004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bg>
      <p:bgPr>
        <a:solidFill>
          <a:srgbClr val="004F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DB26E-7550-4A68-B9ED-0930F4C79F79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BC2DF-976F-4C49-92B9-E79BD60CFE9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-1" y="1"/>
            <a:ext cx="10468725" cy="95250"/>
          </a:xfrm>
          <a:prstGeom prst="rect">
            <a:avLst/>
          </a:prstGeom>
          <a:solidFill>
            <a:srgbClr val="004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6096000" y="6108700"/>
            <a:ext cx="6096000" cy="749300"/>
          </a:xfrm>
          <a:prstGeom prst="rect">
            <a:avLst/>
          </a:prstGeom>
          <a:solidFill>
            <a:srgbClr val="004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B5F89-3C37-49A6-B7CC-41D189EEC0B1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9001C-556A-4238-A7E0-2B72E20C5D7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6350" y="5349875"/>
            <a:ext cx="8286750" cy="1511300"/>
          </a:xfrm>
          <a:custGeom>
            <a:avLst/>
            <a:gdLst>
              <a:gd name="connsiteX0" fmla="*/ 0 w 7404100"/>
              <a:gd name="connsiteY0" fmla="*/ 0 h 1498600"/>
              <a:gd name="connsiteX1" fmla="*/ 7404100 w 7404100"/>
              <a:gd name="connsiteY1" fmla="*/ 0 h 1498600"/>
              <a:gd name="connsiteX2" fmla="*/ 7404100 w 7404100"/>
              <a:gd name="connsiteY2" fmla="*/ 1498600 h 1498600"/>
              <a:gd name="connsiteX3" fmla="*/ 0 w 7404100"/>
              <a:gd name="connsiteY3" fmla="*/ 1498600 h 1498600"/>
              <a:gd name="connsiteX4" fmla="*/ 0 w 7404100"/>
              <a:gd name="connsiteY4" fmla="*/ 0 h 1498600"/>
              <a:gd name="connsiteX0-1" fmla="*/ 0 w 7404100"/>
              <a:gd name="connsiteY0-2" fmla="*/ 0 h 1498600"/>
              <a:gd name="connsiteX1-3" fmla="*/ 6121400 w 7404100"/>
              <a:gd name="connsiteY1-4" fmla="*/ 0 h 1498600"/>
              <a:gd name="connsiteX2-5" fmla="*/ 7404100 w 7404100"/>
              <a:gd name="connsiteY2-6" fmla="*/ 1498600 h 1498600"/>
              <a:gd name="connsiteX3-7" fmla="*/ 0 w 7404100"/>
              <a:gd name="connsiteY3-8" fmla="*/ 1498600 h 1498600"/>
              <a:gd name="connsiteX4-9" fmla="*/ 0 w 7404100"/>
              <a:gd name="connsiteY4-10" fmla="*/ 0 h 1498600"/>
              <a:gd name="connsiteX0-11" fmla="*/ 0 w 8280400"/>
              <a:gd name="connsiteY0-12" fmla="*/ 0 h 1511300"/>
              <a:gd name="connsiteX1-13" fmla="*/ 6121400 w 8280400"/>
              <a:gd name="connsiteY1-14" fmla="*/ 0 h 1511300"/>
              <a:gd name="connsiteX2-15" fmla="*/ 8280400 w 8280400"/>
              <a:gd name="connsiteY2-16" fmla="*/ 1511300 h 1511300"/>
              <a:gd name="connsiteX3-17" fmla="*/ 0 w 8280400"/>
              <a:gd name="connsiteY3-18" fmla="*/ 1498600 h 1511300"/>
              <a:gd name="connsiteX4-19" fmla="*/ 0 w 8280400"/>
              <a:gd name="connsiteY4-20" fmla="*/ 0 h 1511300"/>
              <a:gd name="connsiteX0-21" fmla="*/ 6350 w 8286750"/>
              <a:gd name="connsiteY0-22" fmla="*/ 0 h 1511300"/>
              <a:gd name="connsiteX1-23" fmla="*/ 6127750 w 8286750"/>
              <a:gd name="connsiteY1-24" fmla="*/ 0 h 1511300"/>
              <a:gd name="connsiteX2-25" fmla="*/ 8286750 w 8286750"/>
              <a:gd name="connsiteY2-26" fmla="*/ 1511300 h 1511300"/>
              <a:gd name="connsiteX3-27" fmla="*/ 0 w 8286750"/>
              <a:gd name="connsiteY3-28" fmla="*/ 1504950 h 1511300"/>
              <a:gd name="connsiteX4-29" fmla="*/ 6350 w 8286750"/>
              <a:gd name="connsiteY4-30" fmla="*/ 0 h 15113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286750" h="1511300">
                <a:moveTo>
                  <a:pt x="6350" y="0"/>
                </a:moveTo>
                <a:lnTo>
                  <a:pt x="6127750" y="0"/>
                </a:lnTo>
                <a:lnTo>
                  <a:pt x="8286750" y="1511300"/>
                </a:lnTo>
                <a:lnTo>
                  <a:pt x="0" y="1504950"/>
                </a:lnTo>
                <a:cubicBezTo>
                  <a:pt x="2117" y="1003300"/>
                  <a:pt x="4233" y="501650"/>
                  <a:pt x="6350" y="0"/>
                </a:cubicBezTo>
                <a:close/>
              </a:path>
            </a:pathLst>
          </a:custGeom>
          <a:solidFill>
            <a:srgbClr val="0171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10121900" y="0"/>
            <a:ext cx="2070100" cy="825500"/>
          </a:xfrm>
          <a:custGeom>
            <a:avLst/>
            <a:gdLst>
              <a:gd name="connsiteX0" fmla="*/ 0 w 2692400"/>
              <a:gd name="connsiteY0" fmla="*/ 0 h 825500"/>
              <a:gd name="connsiteX1" fmla="*/ 2692400 w 2692400"/>
              <a:gd name="connsiteY1" fmla="*/ 0 h 825500"/>
              <a:gd name="connsiteX2" fmla="*/ 2692400 w 2692400"/>
              <a:gd name="connsiteY2" fmla="*/ 825500 h 825500"/>
              <a:gd name="connsiteX3" fmla="*/ 0 w 2692400"/>
              <a:gd name="connsiteY3" fmla="*/ 825500 h 825500"/>
              <a:gd name="connsiteX4" fmla="*/ 0 w 2692400"/>
              <a:gd name="connsiteY4" fmla="*/ 0 h 825500"/>
              <a:gd name="connsiteX0-1" fmla="*/ 0 w 2692400"/>
              <a:gd name="connsiteY0-2" fmla="*/ 0 h 825500"/>
              <a:gd name="connsiteX1-3" fmla="*/ 2692400 w 2692400"/>
              <a:gd name="connsiteY1-4" fmla="*/ 0 h 825500"/>
              <a:gd name="connsiteX2-5" fmla="*/ 2692400 w 2692400"/>
              <a:gd name="connsiteY2-6" fmla="*/ 825500 h 825500"/>
              <a:gd name="connsiteX3-7" fmla="*/ 965200 w 2692400"/>
              <a:gd name="connsiteY3-8" fmla="*/ 825500 h 825500"/>
              <a:gd name="connsiteX4-9" fmla="*/ 0 w 2692400"/>
              <a:gd name="connsiteY4-10" fmla="*/ 0 h 8255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92400" h="825500">
                <a:moveTo>
                  <a:pt x="0" y="0"/>
                </a:moveTo>
                <a:lnTo>
                  <a:pt x="2692400" y="0"/>
                </a:lnTo>
                <a:lnTo>
                  <a:pt x="2692400" y="825500"/>
                </a:lnTo>
                <a:lnTo>
                  <a:pt x="965200" y="825500"/>
                </a:lnTo>
                <a:lnTo>
                  <a:pt x="0" y="0"/>
                </a:lnTo>
                <a:close/>
              </a:path>
            </a:pathLst>
          </a:custGeom>
          <a:solidFill>
            <a:srgbClr val="0171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93699" y="5816203"/>
            <a:ext cx="6355444" cy="800893"/>
          </a:xfrm>
        </p:spPr>
        <p:txBody>
          <a:bodyPr anchor="b">
            <a:noAutofit/>
          </a:bodyPr>
          <a:lstStyle>
            <a:lvl1pPr algn="l">
              <a:defRPr sz="4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153400" y="6285706"/>
            <a:ext cx="3966030" cy="506411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5625" y="34567"/>
            <a:ext cx="754150" cy="756366"/>
          </a:xfrm>
          <a:prstGeom prst="rect">
            <a:avLst/>
          </a:prstGeom>
        </p:spPr>
      </p:pic>
      <p:sp>
        <p:nvSpPr>
          <p:cNvPr id="13" name="矩形 12"/>
          <p:cNvSpPr/>
          <p:nvPr userDrawn="1"/>
        </p:nvSpPr>
        <p:spPr>
          <a:xfrm>
            <a:off x="126999" y="5718629"/>
            <a:ext cx="139701" cy="95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72000"/>
            <a:ext cx="105156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7DB26E-7550-4A68-B9ED-0930F4C79F79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BC2DF-976F-4C49-92B9-E79BD60CFE9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3500" t="-12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758545" y="6114474"/>
            <a:ext cx="4433456" cy="743526"/>
          </a:xfrm>
        </p:spPr>
        <p:txBody>
          <a:bodyPr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zh-CN" altLang="en-US" dirty="0"/>
              <a:t>答辩人：徐垚</a:t>
            </a:r>
          </a:p>
        </p:txBody>
      </p:sp>
      <p:sp>
        <p:nvSpPr>
          <p:cNvPr id="4" name="副标题 2"/>
          <p:cNvSpPr txBox="1"/>
          <p:nvPr/>
        </p:nvSpPr>
        <p:spPr>
          <a:xfrm>
            <a:off x="384048" y="5338618"/>
            <a:ext cx="5711952" cy="15193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+mn-cs"/>
                <a:sym typeface="Times New Roman" panose="02020603050405020304" pitchFamily="18" charset="0"/>
              </a:rPr>
              <a:t>指导老师：周扬帆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微软雅黑" pitchFamily="34" charset="-122"/>
              <a:cs typeface="+mn-cs"/>
              <a:sym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+mn-cs"/>
                <a:sym typeface="Times New Roman" panose="02020603050405020304" pitchFamily="18" charset="0"/>
              </a:rPr>
              <a:t>院        系：计算</a:t>
            </a:r>
            <a:r>
              <a:rPr lang="zh-CN" altLang="en-US" sz="1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Times New Roman" panose="02020603050405020304" pitchFamily="18" charset="0"/>
              </a:rPr>
              <a:t>与智能创新学院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微软雅黑" pitchFamily="34" charset="-122"/>
              <a:cs typeface="+mn-cs"/>
              <a:sym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+mn-cs"/>
                <a:sym typeface="Times New Roman" panose="02020603050405020304" pitchFamily="18" charset="0"/>
              </a:rPr>
              <a:t>专        业：</a:t>
            </a:r>
            <a:r>
              <a:rPr lang="zh-CN" altLang="en-US" sz="1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Times New Roman" panose="02020603050405020304" pitchFamily="18" charset="0"/>
              </a:rPr>
              <a:t>电子信息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微软雅黑" pitchFamily="34" charset="-122"/>
              <a:cs typeface="+mn-cs"/>
              <a:sym typeface="Times New Roman" panose="02020603050405020304" pitchFamily="18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71787028-03C4-0166-C42E-CFB8A247436D}"/>
              </a:ext>
            </a:extLst>
          </p:cNvPr>
          <p:cNvGrpSpPr/>
          <p:nvPr/>
        </p:nvGrpSpPr>
        <p:grpSpPr>
          <a:xfrm>
            <a:off x="921383" y="2097391"/>
            <a:ext cx="10349233" cy="1721114"/>
            <a:chOff x="921382" y="2226700"/>
            <a:chExt cx="10349233" cy="1721114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0E2AA434-46A7-6992-CCF0-E39F3C59FE77}"/>
                </a:ext>
              </a:extLst>
            </p:cNvPr>
            <p:cNvSpPr/>
            <p:nvPr/>
          </p:nvSpPr>
          <p:spPr>
            <a:xfrm>
              <a:off x="921382" y="2226700"/>
              <a:ext cx="10349233" cy="1721114"/>
            </a:xfrm>
            <a:prstGeom prst="rect">
              <a:avLst/>
            </a:prstGeom>
            <a:solidFill>
              <a:schemeClr val="bg1">
                <a:lumMod val="95000"/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69BFB457-0FA8-F2FA-89ED-F229F53B5FCF}"/>
                </a:ext>
              </a:extLst>
            </p:cNvPr>
            <p:cNvSpPr txBox="1"/>
            <p:nvPr/>
          </p:nvSpPr>
          <p:spPr>
            <a:xfrm>
              <a:off x="1911982" y="2432943"/>
              <a:ext cx="8368034" cy="130862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8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基于</a:t>
              </a:r>
              <a:r>
                <a:rPr lang="en-US" altLang="zh-CN" sz="28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LLM</a:t>
              </a:r>
              <a:r>
                <a:rPr lang="zh-CN" altLang="en-US" sz="28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记忆的长期对话中情感识别的研究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+mn-cs"/>
                </a:rPr>
                <a:t>——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+mn-cs"/>
                </a:rPr>
                <a:t>开题答辩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户外, 天空, 水, 草&#10;&#10;已生成极高可信度的说明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923" b="31282"/>
          <a:stretch>
            <a:fillRect/>
          </a:stretch>
        </p:blipFill>
        <p:spPr>
          <a:xfrm>
            <a:off x="0" y="873202"/>
            <a:ext cx="12192000" cy="2729132"/>
          </a:xfrm>
          <a:prstGeom prst="rect">
            <a:avLst/>
          </a:prstGeom>
        </p:spPr>
      </p:pic>
      <p:sp>
        <p:nvSpPr>
          <p:cNvPr id="6" name="流程图: 数据 5"/>
          <p:cNvSpPr/>
          <p:nvPr/>
        </p:nvSpPr>
        <p:spPr>
          <a:xfrm>
            <a:off x="1534886" y="722476"/>
            <a:ext cx="2129246" cy="3030583"/>
          </a:xfrm>
          <a:prstGeom prst="flowChartInputOutput">
            <a:avLst/>
          </a:prstGeom>
          <a:solidFill>
            <a:schemeClr val="bg1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" name="流程图: 数据 3"/>
          <p:cNvSpPr/>
          <p:nvPr/>
        </p:nvSpPr>
        <p:spPr>
          <a:xfrm>
            <a:off x="470263" y="722476"/>
            <a:ext cx="2129246" cy="3030583"/>
          </a:xfrm>
          <a:prstGeom prst="flowChartInputOutput">
            <a:avLst/>
          </a:prstGeom>
          <a:solidFill>
            <a:srgbClr val="2F5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31280" y="1798091"/>
            <a:ext cx="472841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6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CONTENTS</a:t>
            </a:r>
            <a:endParaRPr lang="zh-CN" altLang="en-US" sz="66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692342" y="3912671"/>
            <a:ext cx="1658982" cy="2612572"/>
            <a:chOff x="940527" y="3959719"/>
            <a:chExt cx="1658982" cy="2612572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5697" y="4265216"/>
              <a:ext cx="593953" cy="592779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/>
          </p:nvSpPr>
          <p:spPr>
            <a:xfrm>
              <a:off x="1378136" y="4857995"/>
              <a:ext cx="748923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400" dirty="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01</a:t>
              </a:r>
              <a:endParaRPr lang="zh-CN" altLang="en-US" sz="44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159617" y="5476711"/>
              <a:ext cx="1220802" cy="4993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kumimoji="1" lang="zh-CN" altLang="en-US" sz="2000" b="1" dirty="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研究背景</a:t>
              </a:r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940527" y="3959719"/>
              <a:ext cx="0" cy="2612572"/>
            </a:xfrm>
            <a:prstGeom prst="line">
              <a:avLst/>
            </a:prstGeom>
            <a:ln w="19050">
              <a:solidFill>
                <a:srgbClr val="2F528F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2599509" y="3959719"/>
              <a:ext cx="0" cy="2612572"/>
            </a:xfrm>
            <a:prstGeom prst="line">
              <a:avLst/>
            </a:prstGeom>
            <a:ln w="19050">
              <a:solidFill>
                <a:srgbClr val="2F528F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7B868D9-1C23-6A5D-8661-2F4A62A7E882}"/>
              </a:ext>
            </a:extLst>
          </p:cNvPr>
          <p:cNvGrpSpPr/>
          <p:nvPr/>
        </p:nvGrpSpPr>
        <p:grpSpPr>
          <a:xfrm>
            <a:off x="3743055" y="3912671"/>
            <a:ext cx="1658982" cy="2612572"/>
            <a:chOff x="940527" y="3959719"/>
            <a:chExt cx="1658982" cy="2612572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BCE0790A-209D-54C1-8E6C-A3ABC2FC4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5697" y="4265216"/>
              <a:ext cx="593953" cy="592779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0E39F72-C034-7204-E9B5-4E5C2F11F047}"/>
                </a:ext>
              </a:extLst>
            </p:cNvPr>
            <p:cNvSpPr txBox="1"/>
            <p:nvPr/>
          </p:nvSpPr>
          <p:spPr>
            <a:xfrm>
              <a:off x="1378136" y="4857995"/>
              <a:ext cx="748923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400" dirty="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02</a:t>
              </a:r>
              <a:endParaRPr lang="zh-CN" altLang="en-US" sz="44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076819D9-AFF0-7CE6-EE5D-51082331FFE9}"/>
                </a:ext>
              </a:extLst>
            </p:cNvPr>
            <p:cNvSpPr txBox="1"/>
            <p:nvPr/>
          </p:nvSpPr>
          <p:spPr>
            <a:xfrm>
              <a:off x="1159617" y="5476711"/>
              <a:ext cx="1220802" cy="4993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kumimoji="1" lang="zh-CN" altLang="en-US" sz="2000" b="1" dirty="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研究现状</a:t>
              </a:r>
            </a:p>
          </p:txBody>
        </p: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F2EA4B84-707E-2FC0-6F1F-00D6B1CBE41C}"/>
                </a:ext>
              </a:extLst>
            </p:cNvPr>
            <p:cNvCxnSpPr/>
            <p:nvPr/>
          </p:nvCxnSpPr>
          <p:spPr>
            <a:xfrm>
              <a:off x="940527" y="3959719"/>
              <a:ext cx="0" cy="2612572"/>
            </a:xfrm>
            <a:prstGeom prst="line">
              <a:avLst/>
            </a:prstGeom>
            <a:ln w="19050">
              <a:solidFill>
                <a:srgbClr val="2F528F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3ADFA7FC-5BEB-0586-4B7B-6A6EB2B8B080}"/>
                </a:ext>
              </a:extLst>
            </p:cNvPr>
            <p:cNvCxnSpPr/>
            <p:nvPr/>
          </p:nvCxnSpPr>
          <p:spPr>
            <a:xfrm>
              <a:off x="2599509" y="3959719"/>
              <a:ext cx="0" cy="2612572"/>
            </a:xfrm>
            <a:prstGeom prst="line">
              <a:avLst/>
            </a:prstGeom>
            <a:ln w="19050">
              <a:solidFill>
                <a:srgbClr val="2F528F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47915DD-5272-9F6E-1B92-D9047C7CE3A1}"/>
              </a:ext>
            </a:extLst>
          </p:cNvPr>
          <p:cNvGrpSpPr/>
          <p:nvPr/>
        </p:nvGrpSpPr>
        <p:grpSpPr>
          <a:xfrm>
            <a:off x="6793768" y="3912671"/>
            <a:ext cx="1658982" cy="2612572"/>
            <a:chOff x="940527" y="3959719"/>
            <a:chExt cx="1658982" cy="2612572"/>
          </a:xfrm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079B4AD2-8A15-503B-8F2F-F77DAC0F96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5697" y="4265216"/>
              <a:ext cx="593953" cy="592779"/>
            </a:xfrm>
            <a:prstGeom prst="rect">
              <a:avLst/>
            </a:prstGeom>
          </p:spPr>
        </p:pic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BDA3266B-9A10-D0D1-491B-90289F62AFE5}"/>
                </a:ext>
              </a:extLst>
            </p:cNvPr>
            <p:cNvSpPr txBox="1"/>
            <p:nvPr/>
          </p:nvSpPr>
          <p:spPr>
            <a:xfrm>
              <a:off x="1378136" y="4857995"/>
              <a:ext cx="748923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400" dirty="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03</a:t>
              </a:r>
              <a:endParaRPr lang="zh-CN" altLang="en-US" sz="44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2B1FC572-178B-7B71-11DD-1E6EBC191534}"/>
                </a:ext>
              </a:extLst>
            </p:cNvPr>
            <p:cNvSpPr txBox="1"/>
            <p:nvPr/>
          </p:nvSpPr>
          <p:spPr>
            <a:xfrm>
              <a:off x="1159617" y="5476711"/>
              <a:ext cx="1220802" cy="4993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kumimoji="1" lang="zh-CN" altLang="en-US" sz="2000" b="1" dirty="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研究方法</a:t>
              </a:r>
            </a:p>
          </p:txBody>
        </p: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B990A244-AC85-E993-B050-9C6769182D90}"/>
                </a:ext>
              </a:extLst>
            </p:cNvPr>
            <p:cNvCxnSpPr/>
            <p:nvPr/>
          </p:nvCxnSpPr>
          <p:spPr>
            <a:xfrm>
              <a:off x="940527" y="3959719"/>
              <a:ext cx="0" cy="2612572"/>
            </a:xfrm>
            <a:prstGeom prst="line">
              <a:avLst/>
            </a:prstGeom>
            <a:ln w="19050">
              <a:solidFill>
                <a:srgbClr val="2F528F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2872614C-8CE2-5144-2DA3-02B17135F9EB}"/>
                </a:ext>
              </a:extLst>
            </p:cNvPr>
            <p:cNvCxnSpPr/>
            <p:nvPr/>
          </p:nvCxnSpPr>
          <p:spPr>
            <a:xfrm>
              <a:off x="2599509" y="3959719"/>
              <a:ext cx="0" cy="2612572"/>
            </a:xfrm>
            <a:prstGeom prst="line">
              <a:avLst/>
            </a:prstGeom>
            <a:ln w="19050">
              <a:solidFill>
                <a:srgbClr val="2F528F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38CA6BF0-8547-962F-948D-E67C52A2EE6A}"/>
              </a:ext>
            </a:extLst>
          </p:cNvPr>
          <p:cNvGrpSpPr/>
          <p:nvPr/>
        </p:nvGrpSpPr>
        <p:grpSpPr>
          <a:xfrm>
            <a:off x="9844482" y="3912671"/>
            <a:ext cx="1658982" cy="2612572"/>
            <a:chOff x="940527" y="3959719"/>
            <a:chExt cx="1658982" cy="2612572"/>
          </a:xfrm>
        </p:grpSpPr>
        <p:pic>
          <p:nvPicPr>
            <p:cNvPr id="43" name="图片 42">
              <a:extLst>
                <a:ext uri="{FF2B5EF4-FFF2-40B4-BE49-F238E27FC236}">
                  <a16:creationId xmlns:a16="http://schemas.microsoft.com/office/drawing/2014/main" id="{36AE46AF-D543-F3F1-078E-67B0C3F0E6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5697" y="4265216"/>
              <a:ext cx="593953" cy="592779"/>
            </a:xfrm>
            <a:prstGeom prst="rect">
              <a:avLst/>
            </a:prstGeom>
          </p:spPr>
        </p:pic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552F5D52-8625-0EC5-B59E-6664FBEB4955}"/>
                </a:ext>
              </a:extLst>
            </p:cNvPr>
            <p:cNvSpPr txBox="1"/>
            <p:nvPr/>
          </p:nvSpPr>
          <p:spPr>
            <a:xfrm>
              <a:off x="1378136" y="4857995"/>
              <a:ext cx="748923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400" dirty="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04</a:t>
              </a:r>
              <a:endParaRPr lang="zh-CN" altLang="en-US" sz="44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9F07B791-BC7B-7A15-0DC0-20D964360E30}"/>
                </a:ext>
              </a:extLst>
            </p:cNvPr>
            <p:cNvSpPr txBox="1"/>
            <p:nvPr/>
          </p:nvSpPr>
          <p:spPr>
            <a:xfrm>
              <a:off x="1159617" y="5476711"/>
              <a:ext cx="1220802" cy="4993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kumimoji="1" lang="zh-CN" altLang="en-US" sz="2000" b="1" dirty="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时间规划</a:t>
              </a:r>
            </a:p>
          </p:txBody>
        </p: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23054B31-2CF3-A9F6-D105-C5FF19FEF8FF}"/>
                </a:ext>
              </a:extLst>
            </p:cNvPr>
            <p:cNvCxnSpPr/>
            <p:nvPr/>
          </p:nvCxnSpPr>
          <p:spPr>
            <a:xfrm>
              <a:off x="940527" y="3959719"/>
              <a:ext cx="0" cy="2612572"/>
            </a:xfrm>
            <a:prstGeom prst="line">
              <a:avLst/>
            </a:prstGeom>
            <a:ln w="19050">
              <a:solidFill>
                <a:srgbClr val="2F528F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9913FCB0-738E-4C0D-DCF1-46D7CFE4D924}"/>
                </a:ext>
              </a:extLst>
            </p:cNvPr>
            <p:cNvCxnSpPr/>
            <p:nvPr/>
          </p:nvCxnSpPr>
          <p:spPr>
            <a:xfrm>
              <a:off x="2599509" y="3959719"/>
              <a:ext cx="0" cy="2612572"/>
            </a:xfrm>
            <a:prstGeom prst="line">
              <a:avLst/>
            </a:prstGeom>
            <a:ln w="19050">
              <a:solidFill>
                <a:srgbClr val="2F528F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占位符 7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02" b="16502"/>
          <a:stretch>
            <a:fillRect/>
          </a:stretch>
        </p:blipFill>
        <p:spPr/>
      </p:pic>
      <p:sp>
        <p:nvSpPr>
          <p:cNvPr id="11" name="圆角矩形 10"/>
          <p:cNvSpPr/>
          <p:nvPr/>
        </p:nvSpPr>
        <p:spPr>
          <a:xfrm>
            <a:off x="0" y="2870200"/>
            <a:ext cx="6502399" cy="1089061"/>
          </a:xfrm>
          <a:prstGeom prst="roundRect">
            <a:avLst>
              <a:gd name="adj" fmla="val 0"/>
            </a:avLst>
          </a:prstGeom>
          <a:solidFill>
            <a:srgbClr val="004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流程图: 手动输入 9"/>
          <p:cNvSpPr/>
          <p:nvPr/>
        </p:nvSpPr>
        <p:spPr>
          <a:xfrm rot="16200000" flipH="1">
            <a:off x="5201024" y="-132977"/>
            <a:ext cx="6858000" cy="7123953"/>
          </a:xfrm>
          <a:prstGeom prst="flowChartManualInput">
            <a:avLst/>
          </a:prstGeom>
          <a:solidFill>
            <a:srgbClr val="0171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0" y="2576811"/>
            <a:ext cx="5570071" cy="1800000"/>
          </a:xfrm>
        </p:spPr>
        <p:txBody>
          <a:bodyPr anchor="ctr">
            <a:normAutofit/>
          </a:bodyPr>
          <a:lstStyle/>
          <a:p>
            <a:pPr algn="ctr"/>
            <a:r>
              <a:rPr lang="zh-CN" altLang="en-US" dirty="0"/>
              <a:t>研究背景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956723" y="-1518701"/>
            <a:ext cx="4084773" cy="93256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0" dirty="0">
                <a:solidFill>
                  <a:srgbClr val="004F8A"/>
                </a:solidFill>
              </a:rPr>
              <a:t>1</a:t>
            </a:r>
            <a:endParaRPr lang="zh-CN" altLang="en-US" sz="60000" dirty="0">
              <a:solidFill>
                <a:srgbClr val="004F8A"/>
              </a:solidFill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2971800"/>
            <a:ext cx="58928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3873500"/>
            <a:ext cx="56896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3"/>
          <p:cNvSpPr>
            <a:spLocks noGrp="1"/>
          </p:cNvSpPr>
          <p:nvPr>
            <p:ph type="title"/>
          </p:nvPr>
        </p:nvSpPr>
        <p:spPr>
          <a:xfrm>
            <a:off x="1095824" y="72000"/>
            <a:ext cx="10257975" cy="914400"/>
          </a:xfrm>
        </p:spPr>
        <p:txBody>
          <a:bodyPr/>
          <a:lstStyle/>
          <a:p>
            <a:r>
              <a:rPr lang="zh-CN" altLang="en-US" dirty="0"/>
              <a:t>研究背景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0747012-6B0E-3FC0-E51F-AB7740B9120A}"/>
              </a:ext>
            </a:extLst>
          </p:cNvPr>
          <p:cNvSpPr/>
          <p:nvPr/>
        </p:nvSpPr>
        <p:spPr>
          <a:xfrm>
            <a:off x="1095824" y="731516"/>
            <a:ext cx="7129929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Background of the study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44475CF-EE65-22A4-C197-290BC968F19F}"/>
              </a:ext>
            </a:extLst>
          </p:cNvPr>
          <p:cNvSpPr txBox="1"/>
          <p:nvPr/>
        </p:nvSpPr>
        <p:spPr>
          <a:xfrm>
            <a:off x="1095824" y="1362269"/>
            <a:ext cx="9417963" cy="13200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研究方向：对话中的情感识别（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ERC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  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学术价值：探索模型如何通过记忆机制建模超长对话中的个体差异性，在此基础上识别情感</a:t>
            </a:r>
            <a:b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应用价值：为情感陪伴类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AI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产品强化理论基础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0F0CD2B-3684-AF69-9624-72A767E28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851" y="2825327"/>
            <a:ext cx="10408298" cy="349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357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3"/>
          <p:cNvSpPr>
            <a:spLocks noGrp="1"/>
          </p:cNvSpPr>
          <p:nvPr>
            <p:ph type="title"/>
          </p:nvPr>
        </p:nvSpPr>
        <p:spPr>
          <a:xfrm>
            <a:off x="1095824" y="72000"/>
            <a:ext cx="10257975" cy="914400"/>
          </a:xfrm>
        </p:spPr>
        <p:txBody>
          <a:bodyPr/>
          <a:lstStyle/>
          <a:p>
            <a:r>
              <a:rPr lang="zh-CN" altLang="en-US" dirty="0"/>
              <a:t>研究背景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0747012-6B0E-3FC0-E51F-AB7740B9120A}"/>
              </a:ext>
            </a:extLst>
          </p:cNvPr>
          <p:cNvSpPr/>
          <p:nvPr/>
        </p:nvSpPr>
        <p:spPr>
          <a:xfrm>
            <a:off x="1095824" y="731516"/>
            <a:ext cx="7129929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Background of the study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44475CF-EE65-22A4-C197-290BC968F19F}"/>
              </a:ext>
            </a:extLst>
          </p:cNvPr>
          <p:cNvSpPr txBox="1"/>
          <p:nvPr/>
        </p:nvSpPr>
        <p:spPr>
          <a:xfrm>
            <a:off x="1095824" y="1362269"/>
            <a:ext cx="10508005" cy="13200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研究方向：对话中的情感识别（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ERC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  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学术价值：探索模型如何通过记忆机制建模超长对话中的个体差异性，在此基础上识别情感</a:t>
            </a:r>
            <a:b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应用价值：为情感陪伴类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AI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产品强化理论基础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37439B9-A22D-1BF5-ACF0-F1ADC2F9C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9306" y="2850848"/>
            <a:ext cx="7433388" cy="347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056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3"/>
          <p:cNvSpPr>
            <a:spLocks noGrp="1"/>
          </p:cNvSpPr>
          <p:nvPr>
            <p:ph type="title"/>
          </p:nvPr>
        </p:nvSpPr>
        <p:spPr>
          <a:xfrm>
            <a:off x="1095824" y="72000"/>
            <a:ext cx="10257975" cy="914400"/>
          </a:xfrm>
        </p:spPr>
        <p:txBody>
          <a:bodyPr/>
          <a:lstStyle/>
          <a:p>
            <a:r>
              <a:rPr lang="zh-CN" altLang="en-US" dirty="0"/>
              <a:t>研究背景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0747012-6B0E-3FC0-E51F-AB7740B9120A}"/>
              </a:ext>
            </a:extLst>
          </p:cNvPr>
          <p:cNvSpPr/>
          <p:nvPr/>
        </p:nvSpPr>
        <p:spPr>
          <a:xfrm>
            <a:off x="1095824" y="731516"/>
            <a:ext cx="7129929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Background of the study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44475CF-EE65-22A4-C197-290BC968F19F}"/>
              </a:ext>
            </a:extLst>
          </p:cNvPr>
          <p:cNvSpPr txBox="1"/>
          <p:nvPr/>
        </p:nvSpPr>
        <p:spPr>
          <a:xfrm>
            <a:off x="1095824" y="1357604"/>
            <a:ext cx="9417963" cy="13128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研究方向：对话中的情感识别（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ERC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  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学术价值：探索模型如何通过记忆机制建模超长对话中的个体差异性，在此基础上识别情感</a:t>
            </a:r>
            <a:b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应用价值：为情感陪伴类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AI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产品强化理论基础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BAFF44-A9D3-5A20-B0BD-30A7C7CBF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927" y="3041668"/>
            <a:ext cx="3438665" cy="323445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988D134-2FAE-E5A1-FCCD-1A0D7E2EDA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0796" y="3041668"/>
            <a:ext cx="3449202" cy="3234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2920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3"/>
          <p:cNvSpPr>
            <a:spLocks noGrp="1"/>
          </p:cNvSpPr>
          <p:nvPr>
            <p:ph type="title"/>
          </p:nvPr>
        </p:nvSpPr>
        <p:spPr>
          <a:xfrm>
            <a:off x="1095824" y="72000"/>
            <a:ext cx="10257975" cy="914400"/>
          </a:xfrm>
        </p:spPr>
        <p:txBody>
          <a:bodyPr/>
          <a:lstStyle/>
          <a:p>
            <a:r>
              <a:rPr lang="zh-CN" altLang="en-US" dirty="0"/>
              <a:t>研究背景</a:t>
            </a:r>
            <a:r>
              <a:rPr lang="en-US" altLang="zh-CN" sz="2400" dirty="0"/>
              <a:t>---</a:t>
            </a:r>
            <a:r>
              <a:rPr lang="zh-CN" altLang="en-US" sz="2000" dirty="0"/>
              <a:t>情感模型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1095824" y="731516"/>
            <a:ext cx="7129929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Background of the study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C84377A-F0AA-0488-021D-919FE2861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22" y="2165224"/>
            <a:ext cx="4378857" cy="444043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B102169-BFD8-B34F-6E95-25509BCD50A8}"/>
              </a:ext>
            </a:extLst>
          </p:cNvPr>
          <p:cNvSpPr txBox="1"/>
          <p:nvPr/>
        </p:nvSpPr>
        <p:spPr>
          <a:xfrm>
            <a:off x="110859" y="1543551"/>
            <a:ext cx="58047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离散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类别情绪模型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(Discrete/Categorical Models)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2E09B10-1165-8271-F01B-E26425BFC561}"/>
              </a:ext>
            </a:extLst>
          </p:cNvPr>
          <p:cNvSpPr txBox="1"/>
          <p:nvPr/>
        </p:nvSpPr>
        <p:spPr>
          <a:xfrm>
            <a:off x="6559030" y="6039895"/>
            <a:ext cx="5032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认知评价模型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(Cognitive Appraisal Models)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6A135E03-972C-7B26-0240-5EB70321C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7636" y="1728217"/>
            <a:ext cx="4370940" cy="402149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02A4F44-4D11-64EF-075D-436CD552F3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5020" y="1342459"/>
            <a:ext cx="47961" cy="5515541"/>
          </a:xfrm>
          <a:prstGeom prst="rect">
            <a:avLst/>
          </a:prstGeom>
        </p:spPr>
      </p:pic>
      <p:sp>
        <p:nvSpPr>
          <p:cNvPr id="16" name="对话气泡: 圆角矩形 15">
            <a:extLst>
              <a:ext uri="{FF2B5EF4-FFF2-40B4-BE49-F238E27FC236}">
                <a16:creationId xmlns:a16="http://schemas.microsoft.com/office/drawing/2014/main" id="{5681595A-523E-390B-064E-7BFAB9F1C8A6}"/>
              </a:ext>
            </a:extLst>
          </p:cNvPr>
          <p:cNvSpPr/>
          <p:nvPr/>
        </p:nvSpPr>
        <p:spPr>
          <a:xfrm>
            <a:off x="9412413" y="1952431"/>
            <a:ext cx="939902" cy="779106"/>
          </a:xfrm>
          <a:prstGeom prst="wedgeRoundRectCallou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这里太高，摔下去我就死了，我好害怕</a:t>
            </a:r>
          </a:p>
        </p:txBody>
      </p:sp>
      <p:sp>
        <p:nvSpPr>
          <p:cNvPr id="17" name="标注: 弯曲线形 16">
            <a:extLst>
              <a:ext uri="{FF2B5EF4-FFF2-40B4-BE49-F238E27FC236}">
                <a16:creationId xmlns:a16="http://schemas.microsoft.com/office/drawing/2014/main" id="{FBC174B8-4623-7EB4-AEC7-4A0DE5E6EBA9}"/>
              </a:ext>
            </a:extLst>
          </p:cNvPr>
          <p:cNvSpPr/>
          <p:nvPr/>
        </p:nvSpPr>
        <p:spPr>
          <a:xfrm>
            <a:off x="6816012" y="4217437"/>
            <a:ext cx="1031034" cy="466061"/>
          </a:xfrm>
          <a:prstGeom prst="borderCallout2">
            <a:avLst>
              <a:gd name="adj1" fmla="val 56455"/>
              <a:gd name="adj2" fmla="val 104924"/>
              <a:gd name="adj3" fmla="val 56455"/>
              <a:gd name="adj4" fmla="val 117803"/>
              <a:gd name="adj5" fmla="val -122746"/>
              <a:gd name="adj6" fmla="val 141969"/>
            </a:avLst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好刺激好兴奋</a:t>
            </a:r>
          </a:p>
        </p:txBody>
      </p:sp>
    </p:spTree>
    <p:extLst>
      <p:ext uri="{BB962C8B-B14F-4D97-AF65-F5344CB8AC3E}">
        <p14:creationId xmlns:p14="http://schemas.microsoft.com/office/powerpoint/2010/main" val="2408386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占位符 7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02" b="16502"/>
          <a:stretch>
            <a:fillRect/>
          </a:stretch>
        </p:blipFill>
        <p:spPr/>
      </p:pic>
      <p:sp>
        <p:nvSpPr>
          <p:cNvPr id="11" name="圆角矩形 10"/>
          <p:cNvSpPr/>
          <p:nvPr/>
        </p:nvSpPr>
        <p:spPr>
          <a:xfrm>
            <a:off x="0" y="2870200"/>
            <a:ext cx="6502399" cy="1089061"/>
          </a:xfrm>
          <a:prstGeom prst="roundRect">
            <a:avLst>
              <a:gd name="adj" fmla="val 0"/>
            </a:avLst>
          </a:prstGeom>
          <a:solidFill>
            <a:srgbClr val="004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流程图: 手动输入 9"/>
          <p:cNvSpPr/>
          <p:nvPr/>
        </p:nvSpPr>
        <p:spPr>
          <a:xfrm rot="16200000" flipH="1">
            <a:off x="5201024" y="-132977"/>
            <a:ext cx="6858000" cy="7123953"/>
          </a:xfrm>
          <a:prstGeom prst="flowChartManualInput">
            <a:avLst/>
          </a:prstGeom>
          <a:solidFill>
            <a:srgbClr val="0171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0" y="2576811"/>
            <a:ext cx="5570071" cy="1800000"/>
          </a:xfrm>
        </p:spPr>
        <p:txBody>
          <a:bodyPr anchor="ctr">
            <a:normAutofit/>
          </a:bodyPr>
          <a:lstStyle/>
          <a:p>
            <a:pPr algn="ctr"/>
            <a:r>
              <a:rPr lang="zh-CN" altLang="en-US" dirty="0"/>
              <a:t>研究现状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956723" y="-1518701"/>
            <a:ext cx="4084773" cy="93256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0" dirty="0">
                <a:solidFill>
                  <a:srgbClr val="004F8A"/>
                </a:solidFill>
              </a:rPr>
              <a:t>2</a:t>
            </a:r>
            <a:endParaRPr lang="zh-CN" altLang="en-US" sz="60000" dirty="0">
              <a:solidFill>
                <a:srgbClr val="004F8A"/>
              </a:solidFill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2971800"/>
            <a:ext cx="58928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3873500"/>
            <a:ext cx="56896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062F9-B481-3315-7A4F-95D2B3479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3">
            <a:extLst>
              <a:ext uri="{FF2B5EF4-FFF2-40B4-BE49-F238E27FC236}">
                <a16:creationId xmlns:a16="http://schemas.microsoft.com/office/drawing/2014/main" id="{88CAD5CF-6482-0FBF-19EA-A8D3E77F4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824" y="72000"/>
            <a:ext cx="10257975" cy="914400"/>
          </a:xfrm>
        </p:spPr>
        <p:txBody>
          <a:bodyPr/>
          <a:lstStyle/>
          <a:p>
            <a:r>
              <a:rPr lang="zh-CN" altLang="en-US" dirty="0"/>
              <a:t>研究现状</a:t>
            </a:r>
            <a:r>
              <a:rPr lang="en-US" altLang="zh-CN" sz="2400" dirty="0"/>
              <a:t>---</a:t>
            </a:r>
            <a:r>
              <a:rPr lang="zh-CN" altLang="en-US" sz="2400" dirty="0"/>
              <a:t>早期研究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182053B-93C4-D695-0FB9-2A2337393806}"/>
              </a:ext>
            </a:extLst>
          </p:cNvPr>
          <p:cNvSpPr/>
          <p:nvPr/>
        </p:nvSpPr>
        <p:spPr>
          <a:xfrm>
            <a:off x="1095824" y="731516"/>
            <a:ext cx="7129929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Current works of the study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1C4503F-9CD7-5E50-1014-D97D788AF16B}"/>
              </a:ext>
            </a:extLst>
          </p:cNvPr>
          <p:cNvSpPr txBox="1"/>
          <p:nvPr/>
        </p:nvSpPr>
        <p:spPr>
          <a:xfrm>
            <a:off x="647954" y="1645916"/>
            <a:ext cx="5193009" cy="3787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做法：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将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ERC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任务视为分类任务，对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BERT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等预训练语言模型（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PLM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）进行微调，通过丰富输入信息来提高效果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优点：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PLM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参数量小，训练和部署成本都较低，在特定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benchmark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上表现优秀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缺点：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泛化能力差，世界知识不足，不具备过程的可解释性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8D32E9E-10A3-5C3C-BA6E-369F8074B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039" y="135294"/>
            <a:ext cx="5479219" cy="3153611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59F955CC-6532-1453-7C53-821E58B397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288905"/>
            <a:ext cx="5646576" cy="345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181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062F9-B481-3315-7A4F-95D2B3479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3">
            <a:extLst>
              <a:ext uri="{FF2B5EF4-FFF2-40B4-BE49-F238E27FC236}">
                <a16:creationId xmlns:a16="http://schemas.microsoft.com/office/drawing/2014/main" id="{88CAD5CF-6482-0FBF-19EA-A8D3E77F4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824" y="72000"/>
            <a:ext cx="10257975" cy="914400"/>
          </a:xfrm>
        </p:spPr>
        <p:txBody>
          <a:bodyPr/>
          <a:lstStyle/>
          <a:p>
            <a:r>
              <a:rPr lang="zh-CN" altLang="en-US" dirty="0"/>
              <a:t>研究现状</a:t>
            </a:r>
            <a:r>
              <a:rPr lang="en-US" altLang="zh-CN" sz="2400" dirty="0"/>
              <a:t>---</a:t>
            </a:r>
            <a:r>
              <a:rPr lang="zh-CN" altLang="en-US" sz="2400" dirty="0"/>
              <a:t>提示词工程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182053B-93C4-D695-0FB9-2A2337393806}"/>
              </a:ext>
            </a:extLst>
          </p:cNvPr>
          <p:cNvSpPr/>
          <p:nvPr/>
        </p:nvSpPr>
        <p:spPr>
          <a:xfrm>
            <a:off x="1095824" y="731516"/>
            <a:ext cx="7129929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Current works of the study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BCFBBC2-D382-A1BA-9D44-AF3DC5A08133}"/>
              </a:ext>
            </a:extLst>
          </p:cNvPr>
          <p:cNvSpPr txBox="1"/>
          <p:nvPr/>
        </p:nvSpPr>
        <p:spPr>
          <a:xfrm>
            <a:off x="489857" y="1728217"/>
            <a:ext cx="402615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做法：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将大语言模型（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LLM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）应用到情感识别任务，通过设计提示词让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LLM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从中进行零样本或少样本学习，然后输出对应的情感标签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优点：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只需改变提示词设计就可以泛化到不同的情感识别子任务上，展现出强大的少样本学习能力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缺点：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对于参数量较少的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LLM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，存在指令遵循不完全的问题。在一些经典的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benchmark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上，准确率不及充分微调的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PLM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8331E05-D570-1168-A0EA-CEAD7509D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5978" y="1351214"/>
            <a:ext cx="7026104" cy="43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659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062F9-B481-3315-7A4F-95D2B3479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3">
            <a:extLst>
              <a:ext uri="{FF2B5EF4-FFF2-40B4-BE49-F238E27FC236}">
                <a16:creationId xmlns:a16="http://schemas.microsoft.com/office/drawing/2014/main" id="{88CAD5CF-6482-0FBF-19EA-A8D3E77F4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824" y="72000"/>
            <a:ext cx="10257975" cy="914400"/>
          </a:xfrm>
        </p:spPr>
        <p:txBody>
          <a:bodyPr/>
          <a:lstStyle/>
          <a:p>
            <a:r>
              <a:rPr lang="zh-CN" altLang="en-US" dirty="0"/>
              <a:t>研究现状</a:t>
            </a:r>
            <a:r>
              <a:rPr lang="en-US" altLang="zh-CN" sz="2400" dirty="0"/>
              <a:t>---SFT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182053B-93C4-D695-0FB9-2A2337393806}"/>
              </a:ext>
            </a:extLst>
          </p:cNvPr>
          <p:cNvSpPr/>
          <p:nvPr/>
        </p:nvSpPr>
        <p:spPr>
          <a:xfrm>
            <a:off x="1095824" y="731516"/>
            <a:ext cx="7129929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Current works of the study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72C3A01-BE02-6CB9-2C77-5CB773D83866}"/>
              </a:ext>
            </a:extLst>
          </p:cNvPr>
          <p:cNvSpPr txBox="1"/>
          <p:nvPr/>
        </p:nvSpPr>
        <p:spPr>
          <a:xfrm>
            <a:off x="1184988" y="1610465"/>
            <a:ext cx="399816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做法：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构建输入输出对，对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LLM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进行监督微调（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SFT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优点：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在经典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benchmark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上的表现已经超越了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PLM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，并且表现出强大的泛化能力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缺点：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有一定的训练成本，要求大量高质量训练数据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7B7930B-E174-D312-6D70-623F314A3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432" y="303367"/>
            <a:ext cx="5197150" cy="269817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848534B-18FA-5C1F-A2A5-DEF05CE1E2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330" y="3001539"/>
            <a:ext cx="5483509" cy="370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780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062F9-B481-3315-7A4F-95D2B3479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3">
            <a:extLst>
              <a:ext uri="{FF2B5EF4-FFF2-40B4-BE49-F238E27FC236}">
                <a16:creationId xmlns:a16="http://schemas.microsoft.com/office/drawing/2014/main" id="{88CAD5CF-6482-0FBF-19EA-A8D3E77F4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824" y="72000"/>
            <a:ext cx="10257975" cy="914400"/>
          </a:xfrm>
        </p:spPr>
        <p:txBody>
          <a:bodyPr/>
          <a:lstStyle/>
          <a:p>
            <a:r>
              <a:rPr lang="zh-CN" altLang="en-US" dirty="0"/>
              <a:t>研究现状</a:t>
            </a:r>
            <a:r>
              <a:rPr lang="en-US" altLang="zh-CN" sz="2400" dirty="0"/>
              <a:t>---</a:t>
            </a:r>
            <a:r>
              <a:rPr lang="zh-CN" altLang="en-US" sz="2400" dirty="0"/>
              <a:t>多</a:t>
            </a:r>
            <a:r>
              <a:rPr lang="en-US" altLang="zh-CN" sz="2400" dirty="0"/>
              <a:t>LLM</a:t>
            </a:r>
            <a:r>
              <a:rPr lang="zh-CN" altLang="en-US" sz="2400" dirty="0"/>
              <a:t>框架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182053B-93C4-D695-0FB9-2A2337393806}"/>
              </a:ext>
            </a:extLst>
          </p:cNvPr>
          <p:cNvSpPr/>
          <p:nvPr/>
        </p:nvSpPr>
        <p:spPr>
          <a:xfrm>
            <a:off x="1095824" y="731516"/>
            <a:ext cx="7129929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Current works of the study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72C3A01-BE02-6CB9-2C77-5CB773D83866}"/>
              </a:ext>
            </a:extLst>
          </p:cNvPr>
          <p:cNvSpPr txBox="1"/>
          <p:nvPr/>
        </p:nvSpPr>
        <p:spPr>
          <a:xfrm>
            <a:off x="1095824" y="1848395"/>
            <a:ext cx="39981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做法：引入人为设计的思考框架，由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LLM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分别执行其中的步骤，上一步的输出会参与构建下一步的输入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优点：具备更强的过程可解释性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缺点：思考框架的设计五花八门，缺乏科学性的反思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328F6A2-EB40-4248-A723-D74BECE57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0151" y="820798"/>
            <a:ext cx="5197151" cy="5457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6353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占位符 7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02" b="16502"/>
          <a:stretch>
            <a:fillRect/>
          </a:stretch>
        </p:blipFill>
        <p:spPr/>
      </p:pic>
      <p:sp>
        <p:nvSpPr>
          <p:cNvPr id="11" name="圆角矩形 10"/>
          <p:cNvSpPr/>
          <p:nvPr/>
        </p:nvSpPr>
        <p:spPr>
          <a:xfrm>
            <a:off x="0" y="2870200"/>
            <a:ext cx="6502399" cy="1089061"/>
          </a:xfrm>
          <a:prstGeom prst="roundRect">
            <a:avLst>
              <a:gd name="adj" fmla="val 0"/>
            </a:avLst>
          </a:prstGeom>
          <a:solidFill>
            <a:srgbClr val="004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流程图: 手动输入 9"/>
          <p:cNvSpPr/>
          <p:nvPr/>
        </p:nvSpPr>
        <p:spPr>
          <a:xfrm rot="16200000" flipH="1">
            <a:off x="5201024" y="-132977"/>
            <a:ext cx="6858000" cy="7123953"/>
          </a:xfrm>
          <a:prstGeom prst="flowChartManualInput">
            <a:avLst/>
          </a:prstGeom>
          <a:solidFill>
            <a:srgbClr val="0171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0" y="2576811"/>
            <a:ext cx="5570071" cy="1800000"/>
          </a:xfrm>
        </p:spPr>
        <p:txBody>
          <a:bodyPr anchor="ctr">
            <a:normAutofit/>
          </a:bodyPr>
          <a:lstStyle/>
          <a:p>
            <a:pPr algn="ctr"/>
            <a:r>
              <a:rPr lang="zh-CN" altLang="en-US" dirty="0"/>
              <a:t>研究方法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956723" y="-1518701"/>
            <a:ext cx="4084773" cy="93256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0" dirty="0">
                <a:solidFill>
                  <a:srgbClr val="004F8A"/>
                </a:solidFill>
              </a:rPr>
              <a:t>3</a:t>
            </a:r>
            <a:endParaRPr lang="zh-CN" altLang="en-US" sz="60000" dirty="0">
              <a:solidFill>
                <a:srgbClr val="004F8A"/>
              </a:solidFill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2971800"/>
            <a:ext cx="58928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3873500"/>
            <a:ext cx="56896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062F9-B481-3315-7A4F-95D2B3479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3">
            <a:extLst>
              <a:ext uri="{FF2B5EF4-FFF2-40B4-BE49-F238E27FC236}">
                <a16:creationId xmlns:a16="http://schemas.microsoft.com/office/drawing/2014/main" id="{88CAD5CF-6482-0FBF-19EA-A8D3E77F4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824" y="72000"/>
            <a:ext cx="10257975" cy="914400"/>
          </a:xfrm>
        </p:spPr>
        <p:txBody>
          <a:bodyPr/>
          <a:lstStyle/>
          <a:p>
            <a:r>
              <a:rPr lang="zh-CN" altLang="en-US" dirty="0"/>
              <a:t>研究方法</a:t>
            </a:r>
            <a:r>
              <a:rPr lang="en-US" altLang="zh-CN" sz="2400" dirty="0"/>
              <a:t>---</a:t>
            </a:r>
            <a:r>
              <a:rPr lang="zh-CN" altLang="en-US" sz="2400" dirty="0"/>
              <a:t>新数据集的构建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182053B-93C4-D695-0FB9-2A2337393806}"/>
              </a:ext>
            </a:extLst>
          </p:cNvPr>
          <p:cNvSpPr/>
          <p:nvPr/>
        </p:nvSpPr>
        <p:spPr>
          <a:xfrm>
            <a:off x="1095824" y="731516"/>
            <a:ext cx="7129929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Proposed method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5ED04F5-4891-50FA-DF4A-254B1ED2C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5928" y="3070802"/>
            <a:ext cx="7437765" cy="3468925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8D6D123C-85D5-5573-F65C-87420D6763D0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3093099" y="2271164"/>
            <a:ext cx="144623" cy="8819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5BCDEFD2-572B-F967-B2B0-E690786211B5}"/>
              </a:ext>
            </a:extLst>
          </p:cNvPr>
          <p:cNvSpPr txBox="1"/>
          <p:nvPr/>
        </p:nvSpPr>
        <p:spPr>
          <a:xfrm>
            <a:off x="401217" y="1317057"/>
            <a:ext cx="53837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&lt;think&gt;</a:t>
            </a:r>
            <a:r>
              <a:rPr lang="zh-CN" altLang="en-US" sz="1400" dirty="0"/>
              <a:t>钱德勒是乔伊非常好的朋友，所以乔伊带钱德勒去看自己饰演的电影首映。结果钱德勒在看电影时睡着了，而且他还装作自己看了并给出了赞美。这让乔伊感觉自己不被朋友所重视</a:t>
            </a:r>
            <a:r>
              <a:rPr lang="en-US" altLang="zh-CN" sz="1400" dirty="0"/>
              <a:t>&lt;think&gt;</a:t>
            </a:r>
          </a:p>
          <a:p>
            <a:r>
              <a:rPr lang="en-US" altLang="zh-CN" sz="1400" dirty="0"/>
              <a:t>&lt;emotion&gt;anger&lt;emotion&gt;</a:t>
            </a:r>
            <a:endParaRPr lang="zh-CN" altLang="en-US" sz="1400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038E3F5-5FA1-3887-B985-DFA688D730BE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3093099" y="2271164"/>
            <a:ext cx="3903383" cy="8168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A81F3B07-FAD1-5F28-A1EC-9D33EBB3A612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3093099" y="2271164"/>
            <a:ext cx="2164701" cy="8168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A9E60E1E-28AC-D5B8-3890-D83FF86A2C6E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3093099" y="2271164"/>
            <a:ext cx="5588377" cy="8168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1C71FF6B-43F2-C4C2-FDD1-775EC158CB75}"/>
              </a:ext>
            </a:extLst>
          </p:cNvPr>
          <p:cNvCxnSpPr>
            <a:cxnSpLocks/>
          </p:cNvCxnSpPr>
          <p:nvPr/>
        </p:nvCxnSpPr>
        <p:spPr>
          <a:xfrm flipH="1" flipV="1">
            <a:off x="2400707" y="5628287"/>
            <a:ext cx="3695293" cy="4882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AE37AB83-4D03-96FD-3BB8-F425C54AAD84}"/>
              </a:ext>
            </a:extLst>
          </p:cNvPr>
          <p:cNvSpPr txBox="1"/>
          <p:nvPr/>
        </p:nvSpPr>
        <p:spPr>
          <a:xfrm>
            <a:off x="36799" y="3632961"/>
            <a:ext cx="211804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&lt;think&gt;</a:t>
            </a:r>
            <a:r>
              <a:rPr lang="zh-CN" altLang="en-US" sz="1400" dirty="0"/>
              <a:t>钱德勒是乔伊非常好的朋友，所以乔伊带钱德勒去看自己饰演的电影首映。结果钱德勒在看电影时睡着了，他知道自己的行为会惹怒乔伊</a:t>
            </a:r>
            <a:r>
              <a:rPr lang="en-US" altLang="zh-CN" sz="1400" dirty="0"/>
              <a:t>&lt;think&gt;</a:t>
            </a:r>
          </a:p>
          <a:p>
            <a:r>
              <a:rPr lang="en-US" altLang="zh-CN" sz="1400" dirty="0"/>
              <a:t>&lt;emotion&gt;apprehension&lt;emotion&gt;</a:t>
            </a:r>
            <a:endParaRPr lang="zh-CN" altLang="en-US" sz="1400" dirty="0"/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3861A6C9-8F1C-DA60-DAA6-924E5F979BF9}"/>
              </a:ext>
            </a:extLst>
          </p:cNvPr>
          <p:cNvCxnSpPr>
            <a:cxnSpLocks/>
          </p:cNvCxnSpPr>
          <p:nvPr/>
        </p:nvCxnSpPr>
        <p:spPr>
          <a:xfrm flipH="1" flipV="1">
            <a:off x="2400707" y="5693343"/>
            <a:ext cx="1667440" cy="646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E6DE1760-01FB-D5CE-1FD7-4E502A6D5311}"/>
              </a:ext>
            </a:extLst>
          </p:cNvPr>
          <p:cNvSpPr txBox="1"/>
          <p:nvPr/>
        </p:nvSpPr>
        <p:spPr>
          <a:xfrm>
            <a:off x="7284273" y="986400"/>
            <a:ext cx="381190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&lt;think&gt;</a:t>
            </a:r>
            <a:r>
              <a:rPr lang="zh-CN" altLang="en-US" sz="1400" dirty="0"/>
              <a:t>钱德勒是乔伊非常好的朋友，所以乔伊带钱德勒去看自己饰演的电影首映。结果钱德勒在看电影时睡着了。乔伊问钱德勒对电影中袋鼠那一幕有什么看法。</a:t>
            </a:r>
            <a:r>
              <a:rPr lang="en-US" altLang="zh-CN" sz="1400" dirty="0"/>
              <a:t>&lt;think&gt;</a:t>
            </a:r>
          </a:p>
          <a:p>
            <a:r>
              <a:rPr lang="en-US" altLang="zh-CN" sz="1400" dirty="0"/>
              <a:t>&lt;emotion&gt;apprehension,</a:t>
            </a:r>
            <a:r>
              <a:rPr lang="zh-CN" altLang="en-US" sz="1400" dirty="0"/>
              <a:t> </a:t>
            </a:r>
            <a:r>
              <a:rPr lang="en-US" altLang="zh-CN" sz="1400" dirty="0"/>
              <a:t>surprise&lt;emotion&gt;</a:t>
            </a: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7E3C16D0-5C77-D44E-A350-C247158F543F}"/>
              </a:ext>
            </a:extLst>
          </p:cNvPr>
          <p:cNvCxnSpPr>
            <a:cxnSpLocks/>
            <a:endCxn id="31" idx="2"/>
          </p:cNvCxnSpPr>
          <p:nvPr/>
        </p:nvCxnSpPr>
        <p:spPr>
          <a:xfrm flipV="1">
            <a:off x="7786766" y="2155951"/>
            <a:ext cx="1403459" cy="3971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D7A6B4CC-B7DD-D898-C2CE-DC891382EC3D}"/>
              </a:ext>
            </a:extLst>
          </p:cNvPr>
          <p:cNvCxnSpPr>
            <a:cxnSpLocks/>
          </p:cNvCxnSpPr>
          <p:nvPr/>
        </p:nvCxnSpPr>
        <p:spPr>
          <a:xfrm flipV="1">
            <a:off x="9515196" y="5145833"/>
            <a:ext cx="869775" cy="970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FAA726CB-4440-453A-62E4-2EEE40E58D63}"/>
              </a:ext>
            </a:extLst>
          </p:cNvPr>
          <p:cNvSpPr txBox="1"/>
          <p:nvPr/>
        </p:nvSpPr>
        <p:spPr>
          <a:xfrm>
            <a:off x="10446186" y="3155907"/>
            <a:ext cx="160716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&lt;think&gt;</a:t>
            </a:r>
            <a:r>
              <a:rPr lang="zh-CN" altLang="en-US" sz="1400" dirty="0"/>
              <a:t>钱德勒是乔伊非常好的朋友，所以乔伊带钱德勒去看自己饰演的电影首映。结果钱德勒在看电影时睡着了并被乔伊发现。</a:t>
            </a:r>
            <a:r>
              <a:rPr lang="en-US" altLang="zh-CN" sz="1400" dirty="0"/>
              <a:t>&lt;think&gt;</a:t>
            </a:r>
          </a:p>
          <a:p>
            <a:r>
              <a:rPr lang="en-US" altLang="zh-CN" sz="1400" dirty="0"/>
              <a:t>&lt;emotion&gt;sadness&lt;emotion&gt;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1773392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062F9-B481-3315-7A4F-95D2B3479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3">
            <a:extLst>
              <a:ext uri="{FF2B5EF4-FFF2-40B4-BE49-F238E27FC236}">
                <a16:creationId xmlns:a16="http://schemas.microsoft.com/office/drawing/2014/main" id="{88CAD5CF-6482-0FBF-19EA-A8D3E77F4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824" y="72000"/>
            <a:ext cx="10257975" cy="914400"/>
          </a:xfrm>
        </p:spPr>
        <p:txBody>
          <a:bodyPr/>
          <a:lstStyle/>
          <a:p>
            <a:r>
              <a:rPr lang="zh-CN" altLang="en-US" dirty="0"/>
              <a:t>研究方法</a:t>
            </a:r>
            <a:r>
              <a:rPr lang="en-US" altLang="zh-CN" sz="2400" dirty="0"/>
              <a:t>---</a:t>
            </a:r>
            <a:r>
              <a:rPr lang="zh-CN" altLang="en-US" sz="2400" dirty="0"/>
              <a:t>基于</a:t>
            </a:r>
            <a:r>
              <a:rPr lang="en-US" altLang="zh-CN" sz="2400" dirty="0"/>
              <a:t>agent</a:t>
            </a:r>
            <a:r>
              <a:rPr lang="zh-CN" altLang="en-US" sz="2400" dirty="0"/>
              <a:t>记忆的情感识别框架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182053B-93C4-D695-0FB9-2A2337393806}"/>
              </a:ext>
            </a:extLst>
          </p:cNvPr>
          <p:cNvSpPr/>
          <p:nvPr/>
        </p:nvSpPr>
        <p:spPr>
          <a:xfrm>
            <a:off x="1157598" y="766473"/>
            <a:ext cx="7129929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Proposed method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891CA18-3883-8AE6-F446-8B8D0E39D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1530" y="2345045"/>
            <a:ext cx="735660" cy="73566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37F4035-D0A0-F3D9-72EA-D717498C29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173" y="1490419"/>
            <a:ext cx="2012785" cy="1938581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E374222-E453-A1F0-3332-27C04E472AAF}"/>
              </a:ext>
            </a:extLst>
          </p:cNvPr>
          <p:cNvSpPr/>
          <p:nvPr/>
        </p:nvSpPr>
        <p:spPr>
          <a:xfrm>
            <a:off x="1245637" y="2631233"/>
            <a:ext cx="1665514" cy="1632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F4A9213E-8297-97E6-3348-0E443E41F204}"/>
              </a:ext>
            </a:extLst>
          </p:cNvPr>
          <p:cNvCxnSpPr>
            <a:cxnSpLocks/>
            <a:stCxn id="5" idx="3"/>
            <a:endCxn id="2" idx="1"/>
          </p:cNvCxnSpPr>
          <p:nvPr/>
        </p:nvCxnSpPr>
        <p:spPr>
          <a:xfrm flipV="1">
            <a:off x="2911151" y="2712875"/>
            <a:ext cx="770379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92A207BA-316E-7D9A-5ABD-F4344001F8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9401" y="4569814"/>
            <a:ext cx="2679917" cy="625494"/>
          </a:xfrm>
          <a:prstGeom prst="rect">
            <a:avLst/>
          </a:prstGeom>
        </p:spPr>
      </p:pic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36293D5B-2FE4-C175-0954-80D56BDC8917}"/>
              </a:ext>
            </a:extLst>
          </p:cNvPr>
          <p:cNvCxnSpPr>
            <a:cxnSpLocks/>
            <a:stCxn id="5" idx="2"/>
            <a:endCxn id="12" idx="1"/>
          </p:cNvCxnSpPr>
          <p:nvPr/>
        </p:nvCxnSpPr>
        <p:spPr>
          <a:xfrm>
            <a:off x="2078394" y="2794518"/>
            <a:ext cx="631007" cy="2088043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2AE851BC-6B1B-BDBC-C440-D246A6C353D4}"/>
              </a:ext>
            </a:extLst>
          </p:cNvPr>
          <p:cNvSpPr txBox="1"/>
          <p:nvPr/>
        </p:nvSpPr>
        <p:spPr>
          <a:xfrm>
            <a:off x="1926772" y="381576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检索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9E521C8-475D-59D1-6F32-07A9D0D2CAF3}"/>
              </a:ext>
            </a:extLst>
          </p:cNvPr>
          <p:cNvSpPr txBox="1"/>
          <p:nvPr/>
        </p:nvSpPr>
        <p:spPr>
          <a:xfrm>
            <a:off x="4042728" y="3205610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相关信息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3367DDD5-4394-F04A-71AD-ACF16F63C86B}"/>
              </a:ext>
            </a:extLst>
          </p:cNvPr>
          <p:cNvCxnSpPr>
            <a:cxnSpLocks/>
            <a:stCxn id="12" idx="0"/>
            <a:endCxn id="54" idx="2"/>
          </p:cNvCxnSpPr>
          <p:nvPr/>
        </p:nvCxnSpPr>
        <p:spPr>
          <a:xfrm flipH="1" flipV="1">
            <a:off x="4042728" y="4014730"/>
            <a:ext cx="6632" cy="555084"/>
          </a:xfrm>
          <a:prstGeom prst="straightConnector1">
            <a:avLst/>
          </a:prstGeom>
          <a:ln w="127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2F239A47-0C5A-5A03-CD79-07A05C85DD00}"/>
              </a:ext>
            </a:extLst>
          </p:cNvPr>
          <p:cNvCxnSpPr>
            <a:cxnSpLocks/>
            <a:stCxn id="2" idx="3"/>
            <a:endCxn id="27" idx="1"/>
          </p:cNvCxnSpPr>
          <p:nvPr/>
        </p:nvCxnSpPr>
        <p:spPr>
          <a:xfrm>
            <a:off x="4417190" y="2712875"/>
            <a:ext cx="972128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08FF6E40-F9EE-0BDA-A94B-9980CE61779B}"/>
              </a:ext>
            </a:extLst>
          </p:cNvPr>
          <p:cNvSpPr txBox="1"/>
          <p:nvPr/>
        </p:nvSpPr>
        <p:spPr>
          <a:xfrm>
            <a:off x="5389318" y="2451265"/>
            <a:ext cx="13516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&lt;think&gt;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内容</a:t>
            </a:r>
            <a:b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&lt;emotion&gt;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标签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1265012-4153-5D6D-F431-00B398F9E456}"/>
              </a:ext>
            </a:extLst>
          </p:cNvPr>
          <p:cNvSpPr txBox="1"/>
          <p:nvPr/>
        </p:nvSpPr>
        <p:spPr>
          <a:xfrm>
            <a:off x="7884057" y="2558986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&lt;golden label&gt;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4FF2FFF4-395B-F096-A335-34CBFE76E646}"/>
              </a:ext>
            </a:extLst>
          </p:cNvPr>
          <p:cNvCxnSpPr>
            <a:cxnSpLocks/>
            <a:stCxn id="27" idx="3"/>
            <a:endCxn id="36" idx="1"/>
          </p:cNvCxnSpPr>
          <p:nvPr/>
        </p:nvCxnSpPr>
        <p:spPr>
          <a:xfrm>
            <a:off x="6740970" y="2712875"/>
            <a:ext cx="114308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0303C398-23E8-98F4-EC9E-F7601DF56FB0}"/>
              </a:ext>
            </a:extLst>
          </p:cNvPr>
          <p:cNvCxnSpPr/>
          <p:nvPr/>
        </p:nvCxnSpPr>
        <p:spPr>
          <a:xfrm flipV="1">
            <a:off x="7312513" y="1992086"/>
            <a:ext cx="0" cy="72078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98AA9C5F-959D-4B3D-A6D2-993B430C2D02}"/>
              </a:ext>
            </a:extLst>
          </p:cNvPr>
          <p:cNvSpPr txBox="1"/>
          <p:nvPr/>
        </p:nvSpPr>
        <p:spPr>
          <a:xfrm>
            <a:off x="6065144" y="1684308"/>
            <a:ext cx="26981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对比标准答案，对输出进行评估</a:t>
            </a: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6819141A-B940-296E-8F41-6B61FA681C4A}"/>
              </a:ext>
            </a:extLst>
          </p:cNvPr>
          <p:cNvCxnSpPr>
            <a:cxnSpLocks/>
            <a:stCxn id="60" idx="1"/>
            <a:endCxn id="12" idx="3"/>
          </p:cNvCxnSpPr>
          <p:nvPr/>
        </p:nvCxnSpPr>
        <p:spPr>
          <a:xfrm flipH="1">
            <a:off x="5389318" y="4882561"/>
            <a:ext cx="2846609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8B5C288E-392C-6266-FBDB-3D70E03294D7}"/>
              </a:ext>
            </a:extLst>
          </p:cNvPr>
          <p:cNvSpPr txBox="1"/>
          <p:nvPr/>
        </p:nvSpPr>
        <p:spPr>
          <a:xfrm>
            <a:off x="6351278" y="4550845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记忆更新</a:t>
            </a:r>
          </a:p>
        </p:txBody>
      </p:sp>
      <p:pic>
        <p:nvPicPr>
          <p:cNvPr id="53" name="图片 52">
            <a:extLst>
              <a:ext uri="{FF2B5EF4-FFF2-40B4-BE49-F238E27FC236}">
                <a16:creationId xmlns:a16="http://schemas.microsoft.com/office/drawing/2014/main" id="{62F574CF-7A06-4E41-2455-B5283E71FE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396" y="5442238"/>
            <a:ext cx="3453294" cy="1076475"/>
          </a:xfrm>
          <a:prstGeom prst="rect">
            <a:avLst/>
          </a:prstGeom>
        </p:spPr>
      </p:pic>
      <p:pic>
        <p:nvPicPr>
          <p:cNvPr id="54" name="图片 53">
            <a:extLst>
              <a:ext uri="{FF2B5EF4-FFF2-40B4-BE49-F238E27FC236}">
                <a16:creationId xmlns:a16="http://schemas.microsoft.com/office/drawing/2014/main" id="{308270EA-B212-42AA-26F2-BCBAD64EF2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28938" y="3590684"/>
            <a:ext cx="427580" cy="424046"/>
          </a:xfrm>
          <a:prstGeom prst="rect">
            <a:avLst/>
          </a:prstGeom>
        </p:spPr>
      </p:pic>
      <p:pic>
        <p:nvPicPr>
          <p:cNvPr id="58" name="图片 57">
            <a:extLst>
              <a:ext uri="{FF2B5EF4-FFF2-40B4-BE49-F238E27FC236}">
                <a16:creationId xmlns:a16="http://schemas.microsoft.com/office/drawing/2014/main" id="{42FBFD49-C4B3-97ED-A996-51A2AEE9AC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67091" y="5442237"/>
            <a:ext cx="3886648" cy="944821"/>
          </a:xfrm>
          <a:prstGeom prst="rect">
            <a:avLst/>
          </a:prstGeom>
        </p:spPr>
      </p:pic>
      <p:sp>
        <p:nvSpPr>
          <p:cNvPr id="59" name="文本框 58">
            <a:extLst>
              <a:ext uri="{FF2B5EF4-FFF2-40B4-BE49-F238E27FC236}">
                <a16:creationId xmlns:a16="http://schemas.microsoft.com/office/drawing/2014/main" id="{CFD35B09-8304-E4FD-DD86-4D2CFE001CC8}"/>
              </a:ext>
            </a:extLst>
          </p:cNvPr>
          <p:cNvSpPr txBox="1"/>
          <p:nvPr/>
        </p:nvSpPr>
        <p:spPr>
          <a:xfrm>
            <a:off x="4136943" y="3671902"/>
            <a:ext cx="6799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 err="1"/>
              <a:t>reranker</a:t>
            </a:r>
            <a:endParaRPr lang="zh-CN" altLang="en-US" sz="1100" dirty="0"/>
          </a:p>
        </p:txBody>
      </p:sp>
      <p:pic>
        <p:nvPicPr>
          <p:cNvPr id="60" name="图片 59">
            <a:extLst>
              <a:ext uri="{FF2B5EF4-FFF2-40B4-BE49-F238E27FC236}">
                <a16:creationId xmlns:a16="http://schemas.microsoft.com/office/drawing/2014/main" id="{458C934B-1868-D39F-94C1-6C995F7E0E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5927" y="4516769"/>
            <a:ext cx="737680" cy="731583"/>
          </a:xfrm>
          <a:prstGeom prst="rect">
            <a:avLst/>
          </a:prstGeom>
        </p:spPr>
      </p:pic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BF0FC0D2-74C7-7A89-B142-6BBBD71F5B3D}"/>
              </a:ext>
            </a:extLst>
          </p:cNvPr>
          <p:cNvCxnSpPr>
            <a:cxnSpLocks/>
            <a:stCxn id="59" idx="3"/>
            <a:endCxn id="67" idx="1"/>
          </p:cNvCxnSpPr>
          <p:nvPr/>
        </p:nvCxnSpPr>
        <p:spPr>
          <a:xfrm flipV="1">
            <a:off x="4816937" y="3802706"/>
            <a:ext cx="3768045" cy="1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A6FF315E-9A13-584C-8AD5-F5B7F0C12893}"/>
              </a:ext>
            </a:extLst>
          </p:cNvPr>
          <p:cNvCxnSpPr>
            <a:stCxn id="36" idx="2"/>
            <a:endCxn id="60" idx="0"/>
          </p:cNvCxnSpPr>
          <p:nvPr/>
        </p:nvCxnSpPr>
        <p:spPr>
          <a:xfrm>
            <a:off x="8604767" y="2866763"/>
            <a:ext cx="0" cy="1650006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A3AA692C-A4E2-28BF-E842-23AE2CFBCB0F}"/>
              </a:ext>
            </a:extLst>
          </p:cNvPr>
          <p:cNvSpPr txBox="1"/>
          <p:nvPr/>
        </p:nvSpPr>
        <p:spPr>
          <a:xfrm>
            <a:off x="8584982" y="3648817"/>
            <a:ext cx="30572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检查记忆是否需要增加、删除、修改</a:t>
            </a:r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C39D09E6-E293-3700-E5F6-60D8C13F567C}"/>
              </a:ext>
            </a:extLst>
          </p:cNvPr>
          <p:cNvCxnSpPr>
            <a:stCxn id="54" idx="0"/>
            <a:endCxn id="2" idx="2"/>
          </p:cNvCxnSpPr>
          <p:nvPr/>
        </p:nvCxnSpPr>
        <p:spPr>
          <a:xfrm flipV="1">
            <a:off x="4042728" y="3080705"/>
            <a:ext cx="6632" cy="50997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9271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占位符 7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02" b="16502"/>
          <a:stretch>
            <a:fillRect/>
          </a:stretch>
        </p:blipFill>
        <p:spPr/>
      </p:pic>
      <p:sp>
        <p:nvSpPr>
          <p:cNvPr id="11" name="圆角矩形 10"/>
          <p:cNvSpPr/>
          <p:nvPr/>
        </p:nvSpPr>
        <p:spPr>
          <a:xfrm>
            <a:off x="0" y="2870200"/>
            <a:ext cx="6502399" cy="1089061"/>
          </a:xfrm>
          <a:prstGeom prst="roundRect">
            <a:avLst>
              <a:gd name="adj" fmla="val 0"/>
            </a:avLst>
          </a:prstGeom>
          <a:solidFill>
            <a:srgbClr val="004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流程图: 手动输入 9"/>
          <p:cNvSpPr/>
          <p:nvPr/>
        </p:nvSpPr>
        <p:spPr>
          <a:xfrm rot="16200000" flipH="1">
            <a:off x="5201024" y="-132977"/>
            <a:ext cx="6858000" cy="7123953"/>
          </a:xfrm>
          <a:prstGeom prst="flowChartManualInput">
            <a:avLst/>
          </a:prstGeom>
          <a:solidFill>
            <a:srgbClr val="0171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0" y="2576811"/>
            <a:ext cx="5570071" cy="1800000"/>
          </a:xfrm>
        </p:spPr>
        <p:txBody>
          <a:bodyPr anchor="ctr">
            <a:normAutofit/>
          </a:bodyPr>
          <a:lstStyle/>
          <a:p>
            <a:pPr algn="ctr"/>
            <a:r>
              <a:rPr lang="zh-CN" altLang="en-US" dirty="0"/>
              <a:t>时间规划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956723" y="-1518701"/>
            <a:ext cx="4084773" cy="93256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0" dirty="0">
                <a:solidFill>
                  <a:srgbClr val="004F8A"/>
                </a:solidFill>
              </a:rPr>
              <a:t>4</a:t>
            </a:r>
            <a:endParaRPr lang="zh-CN" altLang="en-US" sz="60000" dirty="0">
              <a:solidFill>
                <a:srgbClr val="004F8A"/>
              </a:solidFill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2971800"/>
            <a:ext cx="58928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3873500"/>
            <a:ext cx="56896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062F9-B481-3315-7A4F-95D2B3479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3">
            <a:extLst>
              <a:ext uri="{FF2B5EF4-FFF2-40B4-BE49-F238E27FC236}">
                <a16:creationId xmlns:a16="http://schemas.microsoft.com/office/drawing/2014/main" id="{88CAD5CF-6482-0FBF-19EA-A8D3E77F4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824" y="72000"/>
            <a:ext cx="10257975" cy="914400"/>
          </a:xfrm>
        </p:spPr>
        <p:txBody>
          <a:bodyPr/>
          <a:lstStyle/>
          <a:p>
            <a:r>
              <a:rPr lang="zh-CN" altLang="en-US" dirty="0"/>
              <a:t>时间规划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182053B-93C4-D695-0FB9-2A2337393806}"/>
              </a:ext>
            </a:extLst>
          </p:cNvPr>
          <p:cNvSpPr/>
          <p:nvPr/>
        </p:nvSpPr>
        <p:spPr>
          <a:xfrm>
            <a:off x="1095824" y="731516"/>
            <a:ext cx="7129929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Plan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2BC231FF-C37E-FE62-838A-9246F5A02F0B}"/>
              </a:ext>
            </a:extLst>
          </p:cNvPr>
          <p:cNvSpPr/>
          <p:nvPr/>
        </p:nvSpPr>
        <p:spPr>
          <a:xfrm>
            <a:off x="3879945" y="1211291"/>
            <a:ext cx="4432110" cy="8692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完善情感建模方式，进行数据集标注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DED7523-E3B9-84B0-DB8B-483A60967271}"/>
              </a:ext>
            </a:extLst>
          </p:cNvPr>
          <p:cNvSpPr txBox="1"/>
          <p:nvPr/>
        </p:nvSpPr>
        <p:spPr>
          <a:xfrm>
            <a:off x="2342435" y="1289063"/>
            <a:ext cx="13355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2025.12-</a:t>
            </a:r>
          </a:p>
          <a:p>
            <a:pPr algn="just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2026.02</a:t>
            </a:r>
            <a:endParaRPr kumimoji="1" lang="zh-CN" altLang="en-US" sz="2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5AD2B78-C860-5511-EBCB-4A82706713D6}"/>
              </a:ext>
            </a:extLst>
          </p:cNvPr>
          <p:cNvSpPr txBox="1"/>
          <p:nvPr/>
        </p:nvSpPr>
        <p:spPr>
          <a:xfrm>
            <a:off x="2342435" y="2348097"/>
            <a:ext cx="13355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2026.03-2026.05</a:t>
            </a:r>
            <a:endParaRPr kumimoji="1" lang="zh-CN" altLang="en-US" sz="2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CF3B295-C339-0DE3-EF86-38B0B4ED5DD1}"/>
              </a:ext>
            </a:extLst>
          </p:cNvPr>
          <p:cNvSpPr txBox="1"/>
          <p:nvPr/>
        </p:nvSpPr>
        <p:spPr>
          <a:xfrm>
            <a:off x="2342435" y="3400316"/>
            <a:ext cx="13355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2026.06-2026.08</a:t>
            </a:r>
            <a:endParaRPr kumimoji="1" lang="zh-CN" altLang="en-US" sz="2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2BFA673-0EDC-57FC-8E83-AE6E6294243D}"/>
              </a:ext>
            </a:extLst>
          </p:cNvPr>
          <p:cNvSpPr txBox="1"/>
          <p:nvPr/>
        </p:nvSpPr>
        <p:spPr>
          <a:xfrm>
            <a:off x="2342435" y="4456440"/>
            <a:ext cx="13355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2026.09-2026.10</a:t>
            </a:r>
            <a:endParaRPr kumimoji="1" lang="zh-CN" altLang="en-US" sz="2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90B9C57-13E8-9BEB-784E-6BA488A40573}"/>
              </a:ext>
            </a:extLst>
          </p:cNvPr>
          <p:cNvSpPr txBox="1"/>
          <p:nvPr/>
        </p:nvSpPr>
        <p:spPr>
          <a:xfrm>
            <a:off x="2342435" y="5512564"/>
            <a:ext cx="13355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2026.11-2027.01</a:t>
            </a:r>
            <a:endParaRPr kumimoji="1" lang="zh-CN" altLang="en-US" sz="2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圆角矩形 19">
            <a:extLst>
              <a:ext uri="{FF2B5EF4-FFF2-40B4-BE49-F238E27FC236}">
                <a16:creationId xmlns:a16="http://schemas.microsoft.com/office/drawing/2014/main" id="{19192B42-CCD9-54C3-552E-14F86D22FF9C}"/>
              </a:ext>
            </a:extLst>
          </p:cNvPr>
          <p:cNvSpPr/>
          <p:nvPr/>
        </p:nvSpPr>
        <p:spPr>
          <a:xfrm>
            <a:off x="3879945" y="2267415"/>
            <a:ext cx="4432110" cy="8692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探索情感理解与模型记忆的融合方式</a:t>
            </a:r>
          </a:p>
        </p:txBody>
      </p:sp>
      <p:sp>
        <p:nvSpPr>
          <p:cNvPr id="15" name="圆角矩形 20">
            <a:extLst>
              <a:ext uri="{FF2B5EF4-FFF2-40B4-BE49-F238E27FC236}">
                <a16:creationId xmlns:a16="http://schemas.microsoft.com/office/drawing/2014/main" id="{D931F6BA-7CF6-C48C-63E3-0F025EF18FA7}"/>
              </a:ext>
            </a:extLst>
          </p:cNvPr>
          <p:cNvSpPr/>
          <p:nvPr/>
        </p:nvSpPr>
        <p:spPr>
          <a:xfrm>
            <a:off x="3879945" y="3319634"/>
            <a:ext cx="4432110" cy="8692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进行实验的程序设计、执行、分析</a:t>
            </a:r>
          </a:p>
        </p:txBody>
      </p:sp>
      <p:sp>
        <p:nvSpPr>
          <p:cNvPr id="16" name="圆角矩形 21">
            <a:extLst>
              <a:ext uri="{FF2B5EF4-FFF2-40B4-BE49-F238E27FC236}">
                <a16:creationId xmlns:a16="http://schemas.microsoft.com/office/drawing/2014/main" id="{5E4BB051-1C92-BB7A-9574-B17D0AF38649}"/>
              </a:ext>
            </a:extLst>
          </p:cNvPr>
          <p:cNvSpPr/>
          <p:nvPr/>
        </p:nvSpPr>
        <p:spPr>
          <a:xfrm>
            <a:off x="3879945" y="4375758"/>
            <a:ext cx="4432110" cy="8692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进行系统开发与部署，将</a:t>
            </a:r>
            <a:r>
              <a:rPr kumimoji="1"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Agent</a:t>
            </a:r>
            <a:r>
              <a:rPr kumimoji="1"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服务进行集成</a:t>
            </a:r>
          </a:p>
        </p:txBody>
      </p:sp>
      <p:sp>
        <p:nvSpPr>
          <p:cNvPr id="17" name="圆角矩形 24">
            <a:extLst>
              <a:ext uri="{FF2B5EF4-FFF2-40B4-BE49-F238E27FC236}">
                <a16:creationId xmlns:a16="http://schemas.microsoft.com/office/drawing/2014/main" id="{54CC9679-4C34-3AFA-79D1-542D831BD0AF}"/>
              </a:ext>
            </a:extLst>
          </p:cNvPr>
          <p:cNvSpPr/>
          <p:nvPr/>
        </p:nvSpPr>
        <p:spPr>
          <a:xfrm>
            <a:off x="3879945" y="5431882"/>
            <a:ext cx="4432110" cy="8692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总结既有工作，完成论文撰写，准备毕业答辩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809C702-A805-E339-1868-24C9F3153E20}"/>
              </a:ext>
            </a:extLst>
          </p:cNvPr>
          <p:cNvSpPr txBox="1"/>
          <p:nvPr/>
        </p:nvSpPr>
        <p:spPr>
          <a:xfrm>
            <a:off x="8514060" y="1458340"/>
            <a:ext cx="333061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一个长期</a:t>
            </a:r>
            <a:r>
              <a:rPr lang="en-US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ERC</a:t>
            </a:r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任务的基准</a:t>
            </a:r>
            <a:endParaRPr lang="en-US" altLang="zh-CN" kern="1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E628A80-A6CB-3983-AE68-1390A1C2C723}"/>
              </a:ext>
            </a:extLst>
          </p:cNvPr>
          <p:cNvSpPr txBox="1"/>
          <p:nvPr/>
        </p:nvSpPr>
        <p:spPr>
          <a:xfrm>
            <a:off x="8514060" y="2370884"/>
            <a:ext cx="333061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一个用于识别长期对话中人类情感的</a:t>
            </a:r>
            <a:r>
              <a:rPr lang="en-US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Agent</a:t>
            </a:r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框架</a:t>
            </a:r>
            <a:endParaRPr lang="en-US" altLang="zh-CN" kern="1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F8B2346-8BE1-20C3-E63C-826D95C4C1B7}"/>
              </a:ext>
            </a:extLst>
          </p:cNvPr>
          <p:cNvSpPr txBox="1"/>
          <p:nvPr/>
        </p:nvSpPr>
        <p:spPr>
          <a:xfrm>
            <a:off x="8514060" y="3569593"/>
            <a:ext cx="333061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完成实验部分</a:t>
            </a:r>
            <a:endParaRPr lang="en-US" altLang="zh-CN" kern="1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46AB19F-E242-64E7-FFA2-FA8538E3139C}"/>
              </a:ext>
            </a:extLst>
          </p:cNvPr>
          <p:cNvSpPr txBox="1"/>
          <p:nvPr/>
        </p:nvSpPr>
        <p:spPr>
          <a:xfrm>
            <a:off x="8514060" y="4451671"/>
            <a:ext cx="333061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完成系统开发与部署，完成论文初稿撰写</a:t>
            </a:r>
            <a:endParaRPr lang="en-US" altLang="zh-CN" kern="1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5DEAEBC-2083-AAEF-86CA-C8C44520E2A8}"/>
              </a:ext>
            </a:extLst>
          </p:cNvPr>
          <p:cNvSpPr txBox="1"/>
          <p:nvPr/>
        </p:nvSpPr>
        <p:spPr>
          <a:xfrm>
            <a:off x="8514060" y="5681841"/>
            <a:ext cx="333061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完成毕业论文终稿</a:t>
            </a:r>
            <a:endParaRPr lang="en-US" altLang="zh-CN" kern="1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3184091-1308-B8EA-03F6-EDC577D038C7}"/>
              </a:ext>
            </a:extLst>
          </p:cNvPr>
          <p:cNvSpPr txBox="1"/>
          <p:nvPr/>
        </p:nvSpPr>
        <p:spPr>
          <a:xfrm>
            <a:off x="8514060" y="731516"/>
            <a:ext cx="333061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400" b="1" kern="100" dirty="0">
                <a:effectLst/>
                <a:ea typeface="楷体" panose="02010609060101010101" pitchFamily="49" charset="-122"/>
                <a:cs typeface="Times New Roman" panose="02020603050405020304" pitchFamily="18" charset="0"/>
              </a:rPr>
              <a:t>预期结果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0142ABA-253D-0D67-7229-D189C834CD1A}"/>
              </a:ext>
            </a:extLst>
          </p:cNvPr>
          <p:cNvSpPr txBox="1"/>
          <p:nvPr/>
        </p:nvSpPr>
        <p:spPr>
          <a:xfrm>
            <a:off x="4430695" y="761283"/>
            <a:ext cx="333061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400" b="1" kern="100" dirty="0">
                <a:effectLst/>
                <a:ea typeface="楷体" panose="02010609060101010101" pitchFamily="49" charset="-122"/>
                <a:cs typeface="Times New Roman" panose="02020603050405020304" pitchFamily="18" charset="0"/>
              </a:rPr>
              <a:t>主要研究内容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20657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4337836" y="1629000"/>
            <a:ext cx="3600000" cy="3600000"/>
          </a:xfrm>
          <a:prstGeom prst="ellipse">
            <a:avLst/>
          </a:prstGeom>
          <a:solidFill>
            <a:srgbClr val="0171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519509" y="2828835"/>
            <a:ext cx="32366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7200" dirty="0">
                <a:solidFill>
                  <a:schemeClr val="bg1"/>
                </a:solidFill>
              </a:rPr>
              <a:t>THANKS</a:t>
            </a:r>
            <a:endParaRPr lang="zh-CN" altLang="en-US" sz="7200" dirty="0">
              <a:solidFill>
                <a:schemeClr val="bg1"/>
              </a:solidFill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4697836" y="2828835"/>
            <a:ext cx="288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4697836" y="4029164"/>
            <a:ext cx="288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椭圆 1"/>
          <p:cNvSpPr/>
          <p:nvPr/>
        </p:nvSpPr>
        <p:spPr>
          <a:xfrm>
            <a:off x="4436036" y="1743300"/>
            <a:ext cx="3403600" cy="3403600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WFmMDU3Mzc5MzljN2ZjMjM4YTc4YjgwNjFiZDhhMTg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TANDARD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Y2OTQ0NDk4MTgyIiwKCSJHcm91cElkIiA6ICI4MTI0NTc5OTIiLAoJIkltYWdlIiA6ICJpVkJPUncwS0dnb0FBQUFOU1VoRVVnQUFBWThBQUFKaUNBWUFBQUEvcUU0bUFBQUFBWE5TUjBJQXJzNGM2UUFBSUFCSlJFRlVlSnpzM1hsWVUxZitQL0QzVFFpN0Nnb0thSzFGWEVDeGdqdldXclh1TTNhS1VtcXJBbFdMbzFYcXZsWkZjZW9HbENwajNRcVdxZFdPWDFweGFxMVYxSTZ0cmJXNEx6OVJpNGlLaW9CQU1DRWg1L2NIbWpHQ1NsUklDTy9YOC9oSTdqMDU5NU1vZWVlZWN4ZUF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T2doa3FrTElESkhYbDVlTmc0T0RwMkVFRWRQbkRpaE5IVTlST1pHWnVvQ2lNeFJ2WHIxNmtpU05FNnIxVFl3ZFMxRTVvamhRVlFCalViakpVblNtd3FGb3JXcGF5RXlSd3dQb2dySTVmSlFTWkxzSlVrYWJ1cGFpTXdSdzRPb1BKa2tTZThBZ0NSSkE4RGZFNkp5K0V0QjlCQS9QNy9lUW9nNlFnZ0FjUFB6OCt0djZwcUl6QTNEZzZpOGtRODlIbU9TS29qTUdNT0Q2QUZlWGw2dWtpUjFrU1FKOS84QTZQcnl5eTgzTm5WdFJPYUU0VUgwZ0RwMTZuUVVRalM4TjJTRmUzL1hrOGxrZlV4YUdKR1pZWGdRL1k4VmdJNEE2ajIwM0E1QWdJK1BqM1gxbDBSa25oZ2VSUGUwYWRPbUxvQStLRHZhQ2dEdUQxdkpKRW5xckZBb1hFMVlIcEZaWVhnUTNXTnRiZTBHb0VORjY0UVFyWFE2blZzMWwwUmt0aGdlUlBkSWt0UmJraVRIUjZ5enQ3S3k2bG5kTlJHWks0WUgwVDFDaURHQWZxaEs3LzVqSVVSWTlWZEZaSjU0VlYyaUN2ajUrZmxJa25SYUNCRnc5T2pSUTZhdWg4amNjTStEaUlpTXh2QWdJaUtqTVR5SWlNaG9EQThpSWpJYXc0T0lpSXpHOENBaUlxTXhQSWlJeUdnTUR5SWlNaHJEZzRpSWpNYndJQ0lpbzFtWnVnQ2lweUdFY0FXZ3FLcitvNktpR2g0OGVCRHQyN2QzU1V0TDg2aXE3ZHdqSkVtNlhzWGJJSHF1ZUcwcnFwR0VFS2NCK0ppNmp1ZEVMVW1TcmFtTElESUdoNjJJaU1ob0RBOGlJaklhdzRPSWlJekc4Q0FDY09YS2xTcnA5K2JObTFDcFZGWFNONUVwTVR5bzFrdE9Uc2E0Y2VPZWU3OFpHUmtZT0hBZ2NuTnpuM3ZmUktiRzhLQmFUNlBSVkVtL1dxMjJTdm9sSXFLbkpJUTRMWVFRdWJtNTRxT1BQaEt2dmZhYTZOS2xpd2dORFJYSGp4OFg5NjFmdjE0RUJ3ZUxCNjFZc1VLTUdUTkdDQ0hFNU1tVGhiKy92LzdQcEVtVGhCQkNEQnMyVEt4ZHUxWXNYYnBVdlBiYWE2SkhqeDdpNDQ4L0ZocU5SZ2doUkZwYW12RDM5eGNGQlFYNmZsTlRVNFcvdjc4UVFvZ3Z2L3pTb04rQWdBQWhoQkJYcmx3Umt5Wk5FcSs4OG9wNDlkVlh4ZWVmZnk2RUVCelhvaHFISndsU2phWFZhdkgzdi84ZEFCQVZGUVZIUjBkOC9mWFhtREJoQXI3NTVodTR1TGc4c1k4NWMrYWdWYXRXK09hYmI3QisvWHJZMmRucDEyM2V2QmtSRVJINDhNTVBjZjc4ZVh6NDRZZG8xS2dSd3NMQ250anZrQ0ZEOE9LTEwyTFNwRWxZdDI0ZEdqVnFwTitlaTRzTEVoTVRVVkJRZ051M2J6L2xxeWN5TFlZSDFWajc5Ky9IbjMvK2llM2J0OFBOelEwQTBMWnRXN3o1NXB2WXVuVXJKa3lZOE1RK1hGeGM0T1RrQkxsY2poZGVlTUZnWGNlT0hmSG1tMjhDQUh4OWZmSDIyMi9qbTIrK3FWUjRPRG82NmdQRDNkMGRIaDVsSjZsZnZud1p2WHIxUXZQbXpZMTZyVVRtaG5NZVZHT2RPWE1HelpvMTB3Y0hBTWpsY3JScjF3NS8vdm5uTS9mZnFsVXJnOGN2dmZRU3JsKy9qdExTMHFmdWM4U0lFWWlQajhmczJiTng5dXpaWnkyUnlHUVlIbFJqV1ZsWlFTWXIvMTlZa2lUOUpMaE1Kb01Rd21DOVRxZXJWUDhQOTExWVdBZ2JHeHZJNVhMOXVnZjdlbmc3RlJrN2RpdzJiZG9FalVhREVTTkdZTk9tVFpXcWhjamNNRHlveHZMeThzS2ZmLzZKVzdkdTZaZVZscGJpeElrVDhQRXB1K3lWczdNemNuSnlESjZYbVpscDhGaVNwQW9ENWVFOWcwT0hEcUZGaXhZQWdQcjE2d09BUWQ4UDkxdFJ3QUJBbXpadHNITGxTb1NIaHlNaEllSEpMNVRJRERFOHFNYnEzYnMzbWpadGlpbFRwdUMzMzM3RHFWT25FQmtaaWFLaUlnd2JOZ3dBNE8vdmp6dDM3aUE1T1JsYXJSWjc5dXhCV2xxYVFUK05HalZDVGs0T0RoMDZoSXNYTCtxWEh6cDBDQnMzYnNTNWMrZXdZY01HN04yN0Y2R2hvUUFBRHc4UHVMbTU0WXN2dmtCSlNRblMwOU94YmRzMmczNWRYRndnU1JKMjc5Nk4wNmRQQXdEKzhZOS80UGp4NDdoNDhTTFMwOVB4NG9zdlZ1VmJSRlJsZUZWZHFwSHVYMVUzT3pzYjBkSFIrUFhYWDZIVDZlRG41NGVwVTZmaXBaZGUwcmZkdG0wYk5tN2NpS0tpSXZUcTFRczJOamJJeU1qQSt2WHJBWlFkdFRWOStuVDgrdXV2R0RCZ0FCWXNXSUNnb0NDODl0cHJ5TWpJd01HREIrSHM3SXpRMEZDODlkWmIrbjZQSFR1R2p6LytHRmxaV2ZEMjlrYXZYcjBRRXhPRFAvNzRROTltM2JwMVNFcEtRdjM2OWJGOSszWjg4TUVIT0g3OE9HUXlHZno4L0RCdDJqUTBhZEtFVjlVbElxb085OC96cUNyRGhnMjdmdzVHZGVCNUhsVGpjTmlLaUlpTXh2QWdJaUtqY2M2RGFpUlJ4YmVoN2R5NTg4ODJOamJOdW5mdlBtVHAwcVYvUFBrWno0UzNvYVVhaCtGQlZBRS9QejhmU1pKT0N5RUNqaDQ5ZXNqVTlSQ1pHdzViRVJHUjBSZ2VSRVJrTklZSEVSRVpqZUZCUkVSR1kzZ1FFWkhSR0I1RVJHUTBoZ2NSRVJtTjRVRkVSRVpqZUJBUmtkRVlIa1JFWkRTR0J4RVJHWTNoUVVSRVJtTjRFQkdSMFJnZVJFUmtOSVlIRVJFWmplRkJSRVJHWTNnUUVaSFJHQjVFUkdRMEsxTVhVQzE4Zkt3YjNiWlNsRGdVV1RuRDJkVFZVQTJnVktvY0hCMXRWR3AxcWIyblo0ZDZwcTZIYW9JOEZDZ1VPbHVsVXB1VmxhVUNJRXhkVVZXeThIdVkrMWczYmFub0xKTkpZd0hoQjZDRkpFbTJwcTZLeko4UUFqTHAvbSsvaGYrYTBITWhCRW9Ca1EwZ1hVaTZiWUEyK2ZMWnM5ZE5YVmRWc2VqZmloZGF0KzFuQmF0NFY5Y0dYdThFQjhITDh5VW9yQldtTG91SUxKQk9wME5lWGo0T0hQd1p1MzlNVmV1QTlZVmE1ZHpjQ3hjS1RGMWJWYkRZOFBEMDlLeW5zM0hjYkcvbk1Hai9yaFM0dXJxWXVpUWlxaVdXTEkvQnhzUWtUYWxXT3pnei9kU1BwcTZuS2xqc2hMbGE1bGdIUXVvV1BqcVV3VUZFMWVyZDRHSHdjSGRUeUdTeVFhYXVwYXBZYkhoSW90UVdrT3EyYU81cDZsS0lxSmF4dDdlRGg0YzdBS214cVd1cEtoWWJIakpKMkVnUzVIYjJuQjhub3VvbGw4bGhhMk1EUUhJMGRTMVZ4V0xEZzRpSXFnN0RnNGlJak1id0lDSWlvekU4aUlqSWFBd1BJaUl5R3NPRGlJaU14dkFnSWlLak1UeUlpTWhvREE4aUlqSWF3NE9JaUl6RzhDQWlJcU14UE1oaTZYUzZjc3V5czdQeHh4OS9QRlYvR28wR0pTVWx6MW9Xa1VXb0hiZWhKWXVpMVdvUkVSR0J0TFEwYk4rK0hRMGJOaXpYcHFpb0NLTkdqY0xxMWF2aDRlR2hYNzUxNjFiazVPU2dRNGNPait4LzJiSmxhTml3SWNMQ3dneVdyMTI3Rm1xMUdsT25UcTN3ZVVGQlFjak96b1pNOXZqdlpFcWxFbHUyYklHWGx4ZCsrdWtueE1mSDQvTGx5MmpVcUJGR2pCaUJvS0NneHo2ZnlCd3dQS2hHS1MwdHhlTEZpMUZZV0lpMzMzNGJreVpOd21lZmZRWW5KeWVEZG82T2p1alJvd2ZtekptRGxTdFhZdkhpeFFDQUV5ZE9vRkdqUm9pSWlEQm83K25wV1c0WkFNeWVQUnQ1ZVhrQUFMVmFqWnMzYnlJOVBWMi9Qanc4SEg1K2Z2ckhDUWtKOFBMeWV1eHJ1QjhPR28wR3k1WXRRM2g0T0ZxMmJJbTB0RFFzWDc0Y3pzN09lUDMxMTQxNFY0aXFIOE9EYW95aW9pTE1uVHNYTjIvZXhKbzFhK0RrNUlUUzBsS0VoSVFnSmlZR3paczNOMmcvZnZ4NFRKczJEWVdGaFFnTkRjVXZ2L3lDR3pkdVlPYk1tVkNyMVZBb0ZQcTlCRWRIUjZTbXBpSXlNaElxbFFveW1ReXBxYWxJU2twQ2NuSXkxR28xaGc4ZkRnREl5Y25CN05tekVSMGRqYnAxNno3MTY1SEpaTmkwYVJOY1hNcHVWdGE2ZFdzY08zWU0rL2Z2WjNpUTJXTjRVSTF3K1BCaExGeTRFQzFidHNTR0RSdmc0T0FBQUpneVpRcmMzZDBSRWhLQzBOQlFqQnc1RWpZMk5nQUFHeHNickZxMVN0L0g4dVhMRVJZV0JqOC9QNFNFaENBOFBCd0JBUUg2OVY1ZVhuajExVmV4Y3VWS05HellFQ0VoSVFDQTd0Mjc0NzMzM3NPQUFRUGc3T3lNeU1oSWRPclVxY0xnQ0FzTHE5U3dGUURJNVhKOWNOeG5hMnVMMHRMU3AzaUhpS29YdzRQTVdsWldGbUppWW5EbzBDRzgvLzc3Q0E0T0JnQVVGeGZyMjd6eHhodG8yYklsRmkxYWhLMWJ0K0xERHovRXBVdVhVRkJRQUc5dmJ3UUdCbUwvL3YxUUtwV1AvVVl2U1JLc3JLd2dTUklrU2NLVksxZXdhTkVpQUlDenN6T21UcDJLa3BJU25EdDNEa3FsRXIvKytpdTZkZXVHc1dQSDZ2dW96TERWeFlzWDBhUkprM0xMYjkrK2pRTUhEbUR5NU1sR3ZVZEVwc0R3SUxPbTFXcmg0T0NBeU1oSUxGMjZGRWxKU1FESzVoL3VyN3R2K1BEaGNIWjJocWVuSjZ5dHJYSDQ4R0VjT25RSWdZR0IrT0dISDZCV3F6RnUzRGdBd0tWTGx4QVhGNGVFaEFRQVFQdjI3VEZod2dSOVg5ZXVYVU5hV2hxaW9xSUFsTzB0cEtTazRPMjMzNFlrU2ZwMjl2YjIrcDgxR2cza2Nqbmk0dUp3L1BqeFI3NG1mMzkvZlBEQkJ3YkxidHk0Z1E4Ly9CQ3RXclhDWC83eWw2ZDl1NGlxRGNPRHpGcXpaczMwazkzOSt2WFRMOSs2ZFN0KysrMDN4TVRFVlBnOGIyOXZhRFFhN051M0R3QXdjZUpFRkJZVzZ0ZlBuejhmUTRjT3hjc3Z2d3lnYk03ajh1WEwyTEZqQi9idjM0L2MzRnhZV1ZraE1EQVFBSkNZbUlqTXpFdzBidnpvVzFJWEZ4ZkQzdDRld2NIQkdEeDQ4Q1BiT1RvYTNwazBMUzBOTTJmT2hMKy9QeUlqSTJGbHhWOUxNbi84WDBvMWdscXROcGdMMEdnMDBPbDBCc05YZ09HZXdJTWVQRndYS0p0YmFOS2tDVnExYXFWZmxweWNqQXNYTHNETnpRMUJRVUhvMHFVTEJnd1lnSktTRWhRVkZhRisvZnI2eDBxbEVzN096aGcyYkJqR2pCa0RyVmFMTzNmdW9HN2R1ckN6czZ2MDZ6cHc0QUJtejU2TjhlUEhZOFNJRVpWK0hwR3BNVHlvUnBnOWU3YkJ5WDBhalFaYXJSWURCdzQwYUplYW1ncTVYRzZ3TEMwdERkT21UVE5ZVmxSVWhGbXpaaGw4eTA5SlNVRmdZQ0NXTFZzR1NaTFFwazBiN05xMUM3Tm16VUtMRmkwd2V2Um9BRUIwZERTc3JhMHhjZUpFL1hNek16UGg0dUtDNWN1WEl6VTFWVitqV3EwdXQ2Y0JsRTNPUjBkSDQ2T1BQc0s4ZWZNd2FOQ2dwM3huaUV5RDRVRTF3c1BEVTA4YXRucVF2NysvL2dQOXZvcU90cXBJVGs0T1RwdzRBWVZDZ2ZUMGRLaFVLdXpldlJ0ZmZ2bWxRYnNqUjQ3QTI5c2JDeFlzd0lJRkMzRDM3bDJNSGowYVBYdjJSSGg0T0hKeWN2RGRkOTloMUtoUitqbVRuVHQzUXExV3c5M2RIVWVQSGpYb3IzMzc5Z1p6SzBUbWh1RkJGa21yMVdMSGpoMjRjZU1HMUdxMS92QmRZN200dUdENzl1M1lzV01IeG93WkE0MUdnN2ZlZXF2Y0liYTdkdTNDc0dIREFKVHQxVXlkT2hXZE9uVkNlSGc0QUtCT25UbzRmZm8wWnN5WWdhaW9LTmpZMkNBM054ZGFyUlpqeG93cHQ5MWZmdm5scVdzbXFnNE1Eeko3UTRZTXdaMDdkd3lXM1IrMjZ0bXpaN24yaVltSitQcnJyK0hrNUlTT0hUc2lJaUlDVTZkT1JmUG16ZlhuWUN4WnNnVDE2OWZYUDZlMHRCUnF0Um9halFaWHIxN1Z6NUZjdm53WlI0NGN3Ylp0MitEbzZJakF3RUNrcEtUZzk5OS9SMGhJQ1ByMDZZUGZmLzhkbVptWjZOV3JGL0x6OHpGMDZGRGs1K2ZqK3ZYcjJMTm5EM1E2SFhRNkhZUVF1SFBuRGlJaUloQWJHNHNSSTBad25vTnFMSVlIbWIydFc3ZENDRkhwOXJhMnRzak96c2JDaFF0UnIxNDlPRGc0WVByMDZiaHg0d2JrY2ptc3JhMGhTUkswV2kwMEdnMDBHZzJzcmEweGYvNTh6Smt6Qi9YcjE4ZkVpUk94ZnYxNmJOaXdBWDUrZmhnK2ZEZ0dEaHdJaFVLQmtKQVE3Tnk1RTZ0V3JZSzl2VDFhdDI2TkdUTm13TTdPRG5aMmRsaTZkQ2xjWFYzaDZPZ0lXMXRiMk5yYTZ1ZFdkRG9kVnF4WWdkdTNiMWQ0cmdkUlRXR3hnNnBOdlh6YXlCWFdwejVmdXdxdjlYakYxT1ZRTmROcXRSVWU4cXJUNmZSSGFrbVNCTGxjYnZEM2cxUXFGWUN5TURKbUcwUzNiK2RpOHN5NStPL0JYNy9QK0gvSExQSm9DUDdQSjR2MHFBOTFtVXhXNmJtRVI0WEdrN1pCVkJ2d2ZoNUVSR1EwaGdjUkVSbU40VUZFUkVaamVCQVJrZEVZSGtSRVpEU0dCeEVSR1kzaFFVUkVSclBZOE5ES3JiUUFvQ3ZWbWJvVUlxcGxCQVNFVGdjaENZdTlwN0RGaGdlMHVtSUJvYnlkbTJmcVNvaW9sdEZvdENoVUtnRWhaWnU2bHFwaXNlRmhvME9KQkZ3N2R1S2txVXNob2xxbXNLZ0lGeS85Q1VqaW5LbHJxU29XZTMwRmpTYS9RRzdUNElkdDMrN3dmUFdWQUhrYjc5WndzTGN2ZDZNZ0lxTG5RUWdCZFVrSjh2THpFZnZwUDFGVXBMeGFDdDF1VTlkVlZTejJ3b2dBMEtTMXI2OFZaTkhXQ2tYZk5tMjgwYUIrZlNnVUZwdVhSR1JDUWllZ0xDNUc1cFVzWE02OGNrdElVcVIwTjM5alJrYUd5dFMxVlFXTERnOEFVdE9tdms2d3cxZ1paUDZRaEJzZzhRNDdWQWxDc3BKSmRiU2xLSUlFSG5WQlR5UWdDUUM1RXNSVm9SVnJMMXRyVCtITW1SSlQxMVZWTEQwOGlKNktuNStmcXlSSjhUcWRic2F4WThjeVRGMFBrYm14MkFsem9tY2hoR2d2aFBpYkVNTGYxTFVRbVNPR0IxRUZoQkFqSlVsU1NKSVViT3BhaU13Unc0T29QQ3VaVFBZbUFFaVMxQk9Bd3NUMUVKa2RoZ2ZSUS96OC9BWUJjTHgzMy9SR2ZuNStiNWk0SkNLencvQWdlb2dRNHQySEZyMW5ra0tJekJqRGcrZ0JyVnExOHBBa3lROEFKS25zWUVSSmt0cTNhOWZ1SlpNV1JtUm1HQjVFRDdDenMrc3NTVktqaHhZN1NaTFV6eVFGRVprcGhnZlIvMWhKa3VRdmhIQjhjS0VRd2xZbWszWDI4dkxpQ2FaRTl6QThpTzVwM2JwMVBRQ3ZBNUE5TUdSMTd5K3BrNzI5dmFzSnl5TXlLd3dQb251c3JhMWZsQ1NwZlVYcmhCQXQ1WEw1QzlWZEU1RzVZbmdRM1NPWHkvc0NzS3RvblNSSk5nRDZWbTlGUk9hTGw1aWxXa01JVVJlQTQ2UFcvL1d2ZngxY1dscDY1ZDVEaFU2bmM1TWs2YVlrU1dvQWtNbGsvZExTMGpZOFlUUEZraVRsUDZlU2lZakkxSVFRTWFMcWJUYjE2eVNxRGh5MklpSWlvekU4aUlqSWFBd1BJaUl5R2lmTXFkYTVkZXNXQmd3WVlMRE0zOThmNjlldk4xaVduWjJOeFlzWFk4aVFJZWpmdjc5K2VWRlJFYUtqbzdGdjN6NElJZUR2NzQvcDA2ZkR3OE9qV3Vvbk1nY01ENnAxN3R5NUF3QklTRWpRWDcvS3djRkJ2LzdHalJ0SVNFakFkOTk5aDd0MzcyTElrQ0VHejkrMGFSTktTMHZ4eVNlZlFLdlZJajQrSHBNblQ4YVdMVnYwL1JFUmtZVzRmN1RWSDMvOElWNTk5ZFZISGk3MXd3OC9pUEhqeDR1VEowK0tnSUFBc1d2WExvUDExNjlmTjNoODRjSUY0ZS92THpJek0zbTBGZFVhM1BPZ1d1Zk9uVHVvVjYvZUk5ZjM3ZHNYL2ZvOStqcUlibTV1Qm85dGJXMEJBS0xzL2g5RXRRTERnMnFkZ29JQ1hMMTZGVjI2ZEVIRGhnM1J2WHQzVEpnd0FYWHExQUVBbzRlZXZ2bm1HN2k1dWFGSmt5WlZVUzZSV1dKNFVLM1R0V3RYSkNZbVFpYVQ0ZHk1YzFpelpnMnlzckt3ZXZWcW8vdmF1blVya3BLU0VCc2JDNW1NQnk4U0VWa2M4WWd6elBmdjN5LzgvZjNMeldVSUlTcWM4eEJDQ0pWS0pSWXVYQ2g2OXV3cERoMDZ4RFBNcWRiaG5nZlZldDdlM2dES0R1RjllRDZqSW1xMUdoOTg4QUdVU2lVMmI5N01RM1NwVm1KNFVLMTM1c3daQUVEVHBrMHIxWDdEaGcwb0xDeEVRa0lDN093cXZBZ3ZrY1ZqZUZDdHMzbnpaamc1T2FGRml4WklUMC9ISjU5OGdzREF3TWNlZ2ZXZzNidDNvM1BuempoMzdwekJjamMzTjdpN3UxZEZ5VVJtaCtGQnRZNmRuUjArL2ZSVDVPZm53ODNORGNPR0RVTllXRmlsbjUrYm00dms1R1FrSnljYkxBOEpDY0drU1pPZWQ3bEVSR1JLajVvd2Y4NDRZVTYxQW84dEpDSWlvekU4aUlqSWFMeUtHOVVhNGdtM29YMVFWRlJVeTRNSEQrNXIzNzc5a0tWTGwvNWh4R1o0RzFxcUZSZ2VSQlh3OC9QemtTVHB0QkFpNE9qUm80ZE1YUStSdWVHd0ZSRVJHWTNoUVVSRVJtTjRFQkdSMFJnZVJFUmt0TnB4aHJtUGozV2oyMWFLRW9jaUsyYzRtN29hcWdHVXloS2RnNFBWRHJWYXAvTDA3RkM1NjVaUUxaZUhBb1ZDWjZ0VWFyT3lzbFFBTFBydVlCWit0SldQZGRPV2lzNHltVFFXRUg0QVdraVNaR3ZxcXNqOENTRWdTWUFReHQ4Y2ltb25JVkFLaUd3QTZVTFNiUU8weVpmUG5yMXU2cnFxaWtYL1ZyelF1bTAvSzFqRnU3bzI4SG9uT0FoZW5pOUJZYTB3ZFZsRVpJRjBPaDN5OHZKeDRPRFAyUDFqcWxvSHJDL1VLdWZtWHJoUVlPcmFxb0xGaG9lbnAyYzluWTNqWm5zN2gwSDdkNlhBMWRYRjFDVVJVUzJ4WkhrTU5pWW1hVXExMnNHWjZhZCtOSFU5VmNGaUo4elZNc2M2RUZLMzhOR2hEQTRpcWxidkJnK0RoN3ViUWlhVERUSjFMVlhGWXNOREVxVzJnRlMzUlhOUFU1ZENSTFdNdmIwZFBEemNBVWlOVFYxTFZiSFk4SkJKd2thU0lMZXo1L3c0RVZVdnVVd09XeHNiQUZLbHJxVldFMWxzZUJBUlVkVmhlQkFSa2RFWUhrUkVaRFNHQnhFUkdZM2hRVVJFUm1ONEVCR1IwUmdlUkVSa05JWUhFUkVaamVGQlJFUkdZM2dRRVpIUkdCNUVSR1EwaGdkWkxKMU9WMjVaZG5ZMi92ampqNmZxVDZQUm9LU2s1Rm5MSXJJSXRlTTJ0R1JSdEZvdElpSWlrSmFXaHUzYnQ2Tmh3NGJsMmhRVkZXSFVxRkZZdlhvMVBEdzg5TXUzYnQyS25Kd2NkT2pRNFpIOUwxdTJEQTBiTmtSWVdKakI4clZyMTBLdFZtUHExS2tWUGk4b0tBaloyZG1ReVI3L25VeXBWR0xMbGkzdzh2SUNVSGJYd2gwN2R1RHJyNy9Hdi83MXI4YytsOGhjTUR5b1Jpa3RMY1hpeFl0UldGaUl0OTkrRzVNbVRjSm5uMzBHSnljbmczYU9qbzdvMGFNSDVzeVpnNVVyVjJMeDRzVUFnQk1uVHFCUm8wYUlpSWd3YU8vcDZWbHVHUURNbmowYmVYbDVBQUMxV28yYk4yOGlQVDFkdno0OFBCeCtmbjc2eHdrSkNmcFFlSlNnb0NEOXo3dDI3Y0ttVFp0dzZkSWxORzVzc1ZmdkpndkU4S0FhbzZpb0NIUG56c1hObXpleFpzMGFPRGs1b2JTMEZDRWhJWWlKaVVIejVzME4ybzhmUHg3VHBrMURZV0VoUWtORDhjc3Z2K0RHalJ1WU9YTW0xR28xRkFxRmZpL0IwZEVScWFtcGlJeU1oRXFsZ2t3bVEycHFLcEtTa3BDY25BeTFXbzNodzRjREFISnljakI3OW14RVIwZWpidDI2ei9TYWtwT1QwYXRYTC9UcDB3YzdkKzU4cHI2SXFoUERnMnFFdzRjUFkrSENoV2pac2lVMmJOZ0FCd2NIQU1DVUtWUGc3dTZPa0pBUWhJYUdZdVRJa2JDeHNRRUEyTmpZWU5XcVZmbytsaTlmanJDd01QajUrU0VrSkFUaDRlRUlDQWpRci9meThzS3JyNzZLbFN0WG9tSERoZ2dKQ1FFQWRPL2VIZSs5OXg0R0RCZ0FaMmRuUkVaR29sT25UaFVHUjFoWVdLV0dyZTVidTNZdEpFbkNGMTk4OGZSdkRwRUpNRHpJckdWbFpTRW1KZ2FIRGgzQysrKy9qK0RnWUFCQWNYR3h2czBiYjd5QmxpMWJZdEdpUmRpNmRTcysvUEJEWExwMENRVUZCZkQyOWtaZ1lDRDI3OThQcFZLSjExOS8vWkhia2lRSlZsWldrQ1FKa2lUaHlwVXJXTFJvRVFEQTJka1pVNmRPUlVsSkNjNmRPd2VsVW9sZmYvMFYzYnAxdzlpeFkvVjlWR2JZNnVMRmkyalNwSWwrbTBRMUVjT0R6SnBXcTRXRGd3TWlJeU94ZE9sU0pDVWxBU2liZjdpLzdyN2h3NGZEMmRrWm5wNmVzTGEyeHVIRGgzSG8wQ0VFQmdiaWh4OStnRnF0eHJoeDR3QUFseTVkUWx4Y0hCSVNFZ0FBN2R1M3g0UUpFL1I5WGJ0MkRXbHBhWWlLaWdKUXRyZVFrcEtDdDk5KzIrQUQzOTdlWHYrelJxT0JYQzVIWEZ3Y2poOC8vc2pYNU8vdmp3OCsrT0E1dkR0RXBzUHdJTFBXckZrei9XUjN2Mzc5OU11M2J0MkszMzc3RFRFeE1SVSt6OXZiR3hxTkJ2djI3UU1BVEp3NEVZV0ZoZnIxOCtmUHg5Q2hRL0h5eXk4REtKdnp1SHo1TW5iczJJSDkrL2NqTnpjWFZsWldDQXdNQkFBa0ppWWlNelB6c1pQYXhjWEZzTGUzUjNCd01BWVBIdnpJZG82T0ZudG5VcXBGR0I1VUk2alZhcFNXbHVvZmF6UWE2SFE2ZytFcndIQlA0RUVQSHE0TEFMYTJ0bWpTcEFsYXRXcWxYNWFjbkl3TEZ5N0F6YzBOUVVGQjZOS2xDd1lNR0lDU2toSVVGUldoZnYzNitzZEtwUkxPenM0WU5td1l4b3daQTYxV2l6dDM3cUJ1M2Jxd3M3TjdqcStjeUR3eFBLaEdtRDE3dHNISmZScU5CbHF0RmdNSERqUm9sNXFhQ3JsY2JyQXNMUzBOMDZaTk0xaFdWRlNFV2JObXdjcnFmNzhDS1NrcENBd014TEpseXlCSkV0cTBhWU5kdTNaaDFxeFphTkdpQlVhUEhnMEFpSTZPaHJXMU5TWk9uS2gvYm1abUpseGNYTEI4K1hLa3BxYnFhMVNyMVJYdWFYaDVlV0hqeG8xUCtXNFFtUjdEZzJxRWg0ZW5ualJzOVNCL2YzLzlCL3A5RlIxdFZaR2NuQnljT0hFQ0NvVUM2ZW5wVUtsVTJMMTdONzc4OGt1RGRrZU9ISUczdHpjV0xGaUFCUXNXNE83ZHV4ZzllalI2OXV5SjhQQnc1T1RrNEx2dnZzT29VYU00U1U0V2daY25JWXVrMVdxeFk4Y09YTHg0RVdxMStxbjdjWEZ4d2ZidDIrSG41NGN4WThZZ1BEd2NBd2NPaEl1TGkwRzdYYnQyb1hmdjNnREs5bW8rL1BCRGRPclVDZUhoNFFDQU9uWHE0UFRwMDVneFk4WXoxVU5rTHJqblFXWnZ5SkFodUhQbmpzR3krOE5XUFh2MkxOYytNVEVSWDMvOU5aeWNuTkN4WTBkRVJFUmc2dFNwYU42OHVmNGNqQ1ZMbHFCKy9mcjY1NVNXbGtLdFZrT2owZURxMWF2Nk9aTExseS9qeUpFajJMWnRHeHdkSFJFWUdJaVVsQlQ4L3Z2dkNBa0pRWjgrZmZENzc3OGpNek1UdlhyMVFuNStQb1lPSFlyOC9IeGN2MzRkZS9ic2dVNm5nMDZuZ3hBQ2QrN2NRVVJFQkdKall3M21Sa2FOR29WUm8wWlZ4ZHRIVkNVWUhtVDJ0bTdkQ2lGRXBkdmIydG9pT3pzYkN4Y3VSTDE2OWVEZzRJRHAwNmZqeG8wYmtNdmxzTGEyaGlSSjBHcTEwR2cwMEdnMHNMYTJ4dno1OHpGbnpoelVyMThmRXlkT3hQcjE2N0Zod3diNCtmbGgrUERoR0Rod0lCUUtCVUpDUXJCejUwNnNXclVLOXZiMmFOMjZOV2JNbUFFN096dlkyZGxoNmRLbGNIVjFoYU9qSTJ4dGJXRnJhNnVmVzlIcGRGaXhZZ1Z1Mzc2dFA5ZURxQ2F5Mk1IWHBsNCtiZVFLNjFPZnIxMkYxM3E4WXVweXFKcHB0VnFEeWZEN2REcWQva2d0U1pJZ2w4c04vbjZRU3FVQ1VCWkd4bXlENlBidFhFeWVPUmYvUGZqcjl4bi83OWdnVTlkVEZmZy9ueXpTb3o3VVpUS1ovdklsVC9LbzBIalNOb2hxQTA2WUV4R1IwUmdlUkVSa05JWUhFUkVaamVGQlJFUkdZM2dRRVpIUkdCNUVSR1EwaGdjUkVSbk5Zc05ESzdmU0FvQ3VWR2ZxVW9pb2xoRVFFRG9kaENSS245eTZackxZOElCV1Z5d2dsTGR6ODB4ZENSSFZNaHFORm9WS0pTQ2tiRlBYVWxVc05qeHNkQ2lSZ0d2SFRwdzBkU2xFVk1zVUZoWGg0cVUvQVVtY00zVXRWY1ZpcjYrZzBlUVh5RzBhL0xEdDJ4MmVyNzRTSUcvajNSb085dmJsYmhSRVJQUThDQ0dnTGlsQlhuNCtZai85SjRxS2xGZExvZHR0NnJxcWlzVmVHQkVBbXJUMjliV0NMTnBhb2VqYnBvMDNHdFN2RDRYQ1l2T1NpRXhJNkFTVXhjWEl2SktGeTVsWGJnbEppcFRDQnB0M0FBQWdBRWxFUVZUdTVtL015TWhRbWJxMnFtRFI0UUZBYXRyVTF3bDJHQ3VEekIrU2NBT2t5bDBWajJvNUlWbkpwRHJhVWhSQkFvKzZvQ2NTa0FTQVhBbmlxdENLdFpldHRhZHc1a3lKcWV1cUtwWWVIa1JQeGMvUHoxV1NwSGlkVGpmajJMRmpHYWF1aDhqY1dPeUVPZEd6RUVLMEYwTDhUUWpoYitwYWlNd1J3NE9vQWtLSWtaSWtLU1JKQ2paMUxVVG1pT0ZCVko2VlRDWjdFd0FrU2VvSlFHSGllb2pNRHNPRDZDRitmbjZEQURqZXUyOTZJejgvdnpkTVhCS1IyV0Y0RUQxRUNQSHVRNHZlTTBraFJHYU00VUgwQUI4Zm42YVNKUGtCZ0NTVkhZd29TVko3SHgrZnBpWXRqTWpNTUR5SUhxQlFLRjZWSktuUlE0dWRySzJ0ZTVpa0lDSXp4ZkFnK2g4cnVWemVVUWpoK09CQ0lZU3RUQ2JyNU9YbHhSTk1pZTVoZUJEZDA3cDE2M3BDaUZjQXlCNFlzZ0lBU1FqeGlyMjl2YXNwNnlNeUp3d1BvbnVzcmExZmxDU3BUVVhySkVscUk1ZkxYNmp1bW9qTUZjT0Q2QjY1WE40WGdPMGpWdHNDNkZ1TjVSQ1pOVjVpbHVoL1hoZENaQUNBRUVJaFNWSmpBTmNCcU8rZDg5SFRsTVVSbVJOZUdKSE1uaENpUGg2OVIxQWxQdjc0NHhiNzkrL2YzNjVkdXlFclZxejRvenEzL1FDbEpFbDNUTFJ0b3NkaWVKRFpFMEo4RDJDQXFlc3dnVFdTSkkwM2RSRkVGZUdjQnhFUkdZM2hRVVJFUm1ONEVCR1IwWGkwRmRVb2VYbDVpSTJOeFU4Ly9ZU1NraEwwNmRNSGl4Y3ZMdGZ1cTYrK3dzcVZLN0Y1ODJhMGF0WHFrZjF0Mzc0ZHg0NGR3NElGQ3lwY3I5VnEwYVZMbHdyWGpSbzFDaEVSRVJXdXk4ckt3dmp4NDVHU2t2TEliYi8zM25zNGZ2eDR1ZVUrUGo1SVNrcDY1UE9JekFIRGcycU00dUppakIwN0ZxNnVybGk1Y2lYczdlMXgvZnIxY3UyVVNpVTJiTmp3Mkw3eTh2SncvZnAxT0RzN3c5blpHZG5aMlNndUxvYW5wNmRCT3lzckt5UW1KaG9zeTgvUHg1UXBVOUNyVjY4SysvNzExMS9ScGswYk9EczdRNmxVNHNLRkMzajU1WmZMdFpzM2J4NlVTcVhCc2psejVqeXlYeUp6d3ZDZ0dpTXBLUWxhclJaeGNYR3d0cllHVVBZdC9XSHg4ZkhvMEtFRDl1N2QrOGkrcmx5NWdrOC8vUlI1ZVhsUXFWUTRmUGd3Z29PRHk0VUhBUGo2K2hvOGpvdUxRK2ZPbmRHdVhidHliUXNMQzdGNTgyYms1dWJpNnRXckdETm1ERHAyN0ZoaGVEeThyWjkvL2hsS3BSTEJ3Yng1SVJIUk14TkNmQytFRUlNSER4YWJOMjhXajNQeTVFblJwMDhma1pHUklmejkvY1c1YytjZTJmYnUzYnRpeElnUjR0MTMzeFVaR1JtUDdmZSt2THc4RVJBUUlJNGRPL2JZZGdzV0xCRERodzhYTzNmdXJGUy9RZ2d4YXRRb3NYSGp4Z2NYL2RQVTd6M1JvM0RDbkdxRTNOeGNYTDkrSFE0T0RoZ3paZ3g2OWVxRjk5OS9IeGN1WE5DM3VYdjNMdWJObTRlSkV5ZWlYcjE2VCt3ekxpNE8zYnAxdzRRSkV6Qm56aHlJc3JQSUgrdnJyNytHcDZkbmhYc1M5KzNkdXhkWHJseEJmSHc4NHVMaWNPUEdqU2YyKzhjZmYrRDgrZk1ZT25Ub0U5c1NFVkVsQ0NHK1AzZnVuUEQzOXhmQndjSGl4eDkvRk1lUEh4Y1RKa3dRL2Z2M0YzZnYzaFZDQ0xGdzRVSVJFUkdoMzBONDBwN0h0V3ZYaEZLcEZFSUljZUhDaFNmdUdXZzBHdEcvZjMreGZmdjJ4N2E3ZS9ldXlNcktxblMvUWdneGMrWk1NWC8rL0ljWGM4K0RpT2hwQ1NHK1AzUG1qUEQzOXpmNDRMNTkrN2J3OS9jWC8vM3ZmOFdXTFZ2RWdBRURSRjVlbmhDaWN1RmhyTlRVVk5HalJ3K2hVcW1lVzU5Q2xMMk96cDA3VnpRVXh2QWdzOFVKYzZvUm5KMmRBUUJObWpUUkw2dGZ2ejRjSFIyUm01dUx4TVJFM0x4NUUzMzdHbDc0ZHNTSUVlamN1VFBpNCtPZnVZYmR1M2NqSUNBQU5qYlA5NTVRKy9idFE3MTY5U3FjZ0NjeVZ3d1BxaEhjM056ZzZ1cUtreWRQd3QvZkh3Qnc4K1pORkJVVm9XblRwbGl6WmcyMFdxMitmV0ZoSWNhTUdZT2xTNWZDMjl2N21iZXYwV2p3ODg4L1kvYnMyYy9jMThQMjdkdUhWMTk5VlgvUGRLS2FnT0ZCTmNhSUVTT3dmdjE2dUxtNXdjUERBNnRXcllLdnJ5OWVmdm5sY2grOCtmbjVBTXIyVkR3OFBKNTUyK2ZPbllOU3FVVDc5dTJmdWE4SDZYUTZIRDE2RkxObXpYcXUvUkpWTllZSDFSanZ2dnN1bEVvbFZxeFlnZUxpWW5UcDBnVkxsaXlwbG0vc1o4K2VoYU9qSTl6ZDNaOXJ2eGtaR1ZDcFZJODlDNTdJSEhFL21jeWU0Q1haaWN3T3ovTWdJaUtqTVR5SWlNaG9ITFlpc3lkNEcxb2lzOE1KY3pKN2tpVGxWdmMyL2Z6OG5DUkp3dDY5ZTNNa1NicFczZHNuTW5jY3RpSWlJcU14UElpSXlHZ01EeUlpTWxydG1QUHc4YkZ1ZE50S1VlSlFaT1VNWjFOWFF6V0FVbG1pYzNDdzJxRlc2MVNlbmgyZWZIMTNJdVNoUUtIUTJTcVYycXlzTEJXQUoxL2p2d2F6OEtPdGZLeWJ0bFIwbHNta3NZRHdBOUJDa3FScVBXcUhhaVloQkNRSkVBSzg1aFJWaWhBb0JVUTJnSFFoNmJZQjJ1VExaOCtXdjAreWhiRG8zNG9YV3JmdFp3V3JlRmZYQmw3dkJBZkJ5L01sS0t3VnBpNkxpQ3lRVHFkRFhsNCtEaHo4R2J0L1RGWHJnUFdGV3VYYzNBc1hDa3hkVzFXdzJQRHc5UFNzcDdOeDNHeHY1ekJvLzY0VXVMcTZtTG9rSXFvbGxpeVB3Y2JFSkUycFZqczRNLzNVajZhdXB5cFk3SVM1V3VaWUIwTHFGajQ2bE1GQlJOWHEzZUJoOEhCM1U4aGtza0dtcnFXcVdHeDRTS0xVRnBEcXRtanVhZXBTaUtpV3NiZTNnNGVIT3dDcHNhbHJxU29XR3g0eVNkaElFdVIyOXB3Zko2THFKWmZKWVd0akEwQnlOSFV0VmNWaXc0T0lpS29PdzRPSWlJekc4Q0FpSXFNeFBJaUl5R2dNRHlJaU1ockRnNGlJak1id0lDSWlvekU4aUlqSWFBd1BJaUl5R3NPRGlJaU14dkFnSWlLak1UeE1wS1NrQkJrWkdmckhhclVhYTlhc2dWYXJCUUNvVkNxa3A2ZWJxcndxczJmUEhuVHQydFhVWmVqbDVPU2dRNGNPT0hueTVGTTkvOGFORytqYnR5K09IajM2bkNzelgrKysreTYrK09LTFI2NC9jdVFJT25Ub2dNTEN3bXFzaXFwYjdiZ05yUms2ZGVvVXBrK2ZqdFdyVjhQYjJ4dW5UNS9HbmoxNzhQZS8veDBBRUJVVmhjTENRc1RGeFFFb0M1T3JWNitpb0tBQXVibTV5TTdPaG8rUEQ1bzJiWXJpNHVJS3QrSHE2Z3BiMjdJTFF3WUZCU0U3T3hzeTJlTy9MeWlWU216WnNnVmVYbDc0N0xQUDhKLy8vQWU1dWJsbzFxd1pJaUlpMEtWTGwrZjRMdFI4RGc0TzZOcTFLMXhjcXUreS8zdjM3c1g2OWV1Um1abUordlhyNDUxMzNzRTc3N3p6elAwcWxVcW9WQ28wYU5EZ3NlMjZkT21DbDE1NjZabTM5N1N5czdPeGVQRmlEQmt5QlAzNzl6ZFpIYlVkdzhORS9QMzlFUkVSZ2MyYk4yUHg0c1hZdjM4L2V2VG9BUUE0YytZTUxsNjhpUFhyMSt2Ylg3aHdBVkZSVWREcGRDZ3NMRVN2WHIzUXJGa3pyRnk1RW1mT25DbjNDMy94NGtWOC9QSEhDQWdJMEM5TFNFaUFsNWZYWStzS0NnclMvM3pyMWkzTW5Uc1hkZXZXeGViTm16Rmx5aFFrSnllalVhTkd6K010c0FpT2pvNVl2SGh4dFc3enp6Ly9SRWhJQ0pvMWE0YkRodzhqT2pvYTd1N3U2TldyMXpQMUd4Z1lpQWtUSm1ESWtDR1BiVGRwMHFSbjJzN1R1bkhqQmhJU0V2RGRkOS9oN3QyN1Q2eVRxaGJEd3dSU1UxT3haczBhL2VPZ29DQmN1M1lOZGVyVXdjOC8vd3lnN0phV1lXRmhBSUJQUHZrRWJkdTJ4Wll0Vy9ETEw3OWc2OWF0bURGakJnRGdQLy81RDBKRFEvSG1tMjhhYkdQY3VISFBYT2RISDMyay8zbmV2SG5ZdFdzWGpoOC9qbjc5K2oxejM4OUQyWDNHTGZabW1JODBac3dZL2MvZTN0N1lzMmNQZnYzMTEyY09ENDFHODlqMU9wM3VpWHV1VmVuNDhlTzRjdVVLMXF4WmcvRHdjSlBWUVdVWUhpWVFFQkNBZHUzYTZSLy8rT09QMkxadEc5YXVYVnRoZTJkbjUrZXkzYkN3c0VvTlcxVkVDQUVBcUZldm5zSHkwNmRQNCtyVnEwOGRLRnUyYkVGc2JDeFdyMTZOVHAwNjRmVHAwMWkrZkRuT256K1B4bzBiWTl5NGNYajk5ZGNCQU11V0xjT1ZLMWZRcGswYkpDVWxZZDY4ZWJDMnRzYThlZk1RR3h1TDZPaG9YTDkrSFIwN2RrUmtaQ1Njbkp3QUFGcXRGdkh4OFVoSlNZRVFBdDI2ZGNQMDZkUDE2eXREcFZJaE5qWVdlL2Z1UlhGeE1icDI3WXFZbUJqazVPU2dmLy8rU0V4TWhLK3ZMd1lQSG96czdHeUQ1L3I2K2lJeE1mRzUxUEVvZGV2V3JWUzdyS3dzckZpeEFtbHBhWkRKWkFnTkRVVkFRSUIrMkNzeU1oS1JrWkZJU2txQ2g0Y0grdlRwZzBXTEZpRXhNUkVsSlNYWXZuMDdBZ01EOGRlLy9sWC81ZWJJa1NPSWpvN0duMy8raVpkZWVnbHZ2UEZHdWUxKzk5MTNXTGR1SFhKeWN1RHQ3WTJaTTJlaVJZc1dScjNHdm4zN21zMFhGMko0VkR1dFZvdmMzRnlEWlR0MzdrU1BIajFRVWxKUzRYTnUzNzZOZ3djUElpNHVEaHFOQmxxdEZqMTc5c1Fycjd4aTFMWXJNMngxOGVKRk5HblN4R0JaVGs0T1ZxMWFCVjlmWDNUczJORmczYmZmZm9zalI0NDgxUy8xa1NOSEVCc2JpN2x6NTZKVHAwNjRmZnMyeG84ZmozZmVlUWZ6NTgvSDhlUEhNV2ZPSERSdDJoUXRXN1lFQUtTbnA4UFYxUlViTjI2RXM3TXpUcDA2QmExV2kyKysrUVliTm15QVVxbkUrKysvajQwYk4yTHExS2tBZ1BqNGVQejN2Ly9GMHFWTDRlRGdnT2pvYUVSRlJXSGx5cFdWcm5YdDJyWDQ3YmZmRUJzYkM0VkM4Y2dKOWcwYk51Z1Blamg2OUNpaW9xSXdjK2JNU3RVUkZ4ZUg1T1RrQ3Z0ZHMyWU5mSHg4REpZVkZ4ZGorL2J0dUhidFdyazl6MGVaTTJjT1hGeGNrSmlZaUlLQ0F0eStmUnVlbnA3NDl0dHZNWExrU0lTRmhhRjM3OTVvMUtpUmZpN3RpeSsrd09USmsxR25UcDF5L1dWbloyUGl4SW5vMDZjUFpzK2VqY3VYTCtPVFR6NHhhUFB6eno5ajJiSmxtRFZyRmxxMmJJbHQyN1poNHNTSitQYmJiMkZyYTRzREJ3NWcvdno1RmRZYkhoNnVEN2JhdUpkcHpoZ2UxZXpXclZ2NklTY0F1SFRwRXV6czdDQ0V3SkVqUndBQTU4K2ZoNGVIQnh3ZHkyNUM1dTd1amhVclZpQXdNQkJ6NTg1RlVWR1JmaUo5OXV6WmxkcXVScU9CWEM1SFhGd2NqaDgvL3NoMi92NysrT0NERHdBQXYvLytPejc0NEFOb3RWcTBhTkVDeTVjdmgxd3VOMmcvZS9ic1I0YmU0MXk3ZGcwelo4NUVXRmlZZnV6Nml5KytnSitmbjM1SW9ubno1dmp4eHgreGE5Y3VmWGlvVkNyTW1qVUxOalkyQU1vT1BCQkNZTktrU1hCeWNvS1RreE1HRFJxa0gvN0x6OC9INXMyYmtaaVlDRzl2YndEQXhJa1RNWHIwYUtoVXFrclhtNW1aaVNaTm1zRFgxeGNBMExwMTZ3cmJ1YnU3Nit2OC9QUFBFUklTQW05djd5ZldZV3RyaTlEUVVJTTVwd2M5T0NGZldscUs3dDI3UTZQUndNbkpDWkdSa2ZEdzhLalU2N2g4K1RKNjllcUY1czJiR3l4LzRZVVhJSlBKNE96c2pCZGVlQUVBOU9FeGNPQkFnN216QjMzNTVaZHdjM1BEb2tXTElKUEowSzVkT3hRVUZDQW1Ka2JmWnMyYU5SZzdkaXdHRFNxN25mZTBhZE9Ra3BLQ3RMUTBCQVFFb0V1WEx2anFxNjhxN0wreWUxUlUvUmdlMWN6ZDNSMy8rdGUvb05QcHNIcjFhbWkxV3F4YXRRcXVycTc2TnZ2MjdjUGF0V3N4Yjk0OGd3K3Bnb0lDN04rL0g4N096bGk0Y0NFV0xGZ0FBSWlOamNVLy8vbFBnKzBVRkJSZzFLaFIrc2ZGeGNXd3Q3ZEhjSEF3Qmc4ZS9NajY3Z2NXVURiYzh0VlhYeUV2THc5NzkrN0ZpQkVqOE5sbm54bDhBNWJKWlBvanVpcExDSUVwVTZhZ2MrZk9Cbk16WjgrZXhmSGp4OUc5ZTNmOXN2c2ZrUGQ1ZVhucGcrTStLeXNyZzcwbFYxZFg1T1hsQVNqYms5SnF0UWJ6QlBkbFoyY2J2TjdIQ1FvS3d1VEpreEVhR29yUTBGRDA3Tm56c2QrRVY2OWVEV3RyYTd6Ly92dVZxcU5aczJhb1Y2OWV1V0hCaXNqbGNtelpzZ1dGaFlVNGNlSUU1c3laZzBtVEptSFlzR0ZQZk82SUVTTVFIeCtQOCtmUFk5U29VZm9nZTV5SDkzZ2VsSjZlamk1ZHVoZ01oejdZcDFhclJYcDZPaTVldklqUFB2dE12MXl0VnVQNjllc0FBRnRiMjBxSEg1a1Bob2NKbkRoeEFwOSsraWxLU2twdy9mcjFDZyt6Yk5XcUZTSWlJdUR0N1kzZXZYdGp5SkFoU0U1T2hyKy9QNEN5UFpoVnExYkIzZDBka1pHUjVTWkxseXhaQWdjSEJ3Qmx2OEIzN3R4QjNicDFZV2RuVitrNmJXMXQ0ZW5wQ1FEbzBLRURNak16OGVXWFgyTEpraVZQKzlMMTNOemNjUDc4ZVJRV0Z1cUhRN1JhTGZyMTY2Zi93TDN2d1pvcnF2L2hEM0daVEthZm83ay9oTFJ1M2JweTMyTGQzTnh3NTg2ZFN0WGJ0V3RYZlB2dHQwaEtTc0tjT1hQUXFWT25jc016OXgwOWVoVC8vdmUva1pDUUFJVkNVYWs2QUNBbUpnYi85My8vVjJHZjY5YXRRNXMyYmZTUG16VnJCcUFzNEV0S1NyQisvZnBLaGNmWXNXTVJFQkNBaElRRWpCZ3hBcE1tVFVKSVNNaGpuL080L3pOMzc5NHR0NzYwdEZUL3N4QUNwYVdsbURKbFNybTlsL3R6ZWZ2MjdjTzhlZk1xN1AvdmYvODdSb3dZOGRqNnlEUVlIdFVzSXlNRDRlSGhHRDU4T041NTV4Mzg1Uzkvd1lFREJ3emFmUGJaWjdDeHNjR2lSWXVRa0pDQXExZXZJajgvSDE5OTlSVW1UNTZNNzcvL0hsRlJVVGh3NEFDR0RCbUMvUHg4YUxWYVdGbVYvWE1XRkJSZzd0eTUrdjR5TXpQaDR1S0M1Y3VYSXpVMUZVRFpOM3ExV2wzaE4yOHZMeTlzM0xpeDNIS1pUS2JmeHJPUUpBbFJVVkVJQ1FuQnRHblRFQjhmRHlzckt6UnIxZ3huejU3VkQ1czhEeSsrK0NJQTRPYk5td1lmdmsralVhTkdtRFp0R25yMzdvMnhZOGZpd29VTDVRNW1VS2xVV0xod0lVYU9IR253amIweWRZd2VQUnB2di8xMmhlc2VkeDZKWEM0MzZ0K2xUWnMyV0xseUpkYXRXNGVFaEFSOWVFaVNCSjFPVitsK0FLQkpreVk0Zi82OHdiSno1ODdwZjFZb0ZHamN1REd1WExueXlIL1hidDI2NGQvLy9uZUY2emhzWmI0WUh0V3NXYk5tMkxseko1eWRuWkdmbjY5ZnJ0UHA4UHZ2djhQR3hnWS8vZlFUUWtORFVWcGFpZ2tUSnNEVzFoWTdkKzdFRzIrOG9mOWxxbGV2SG9ZTUdZS1NraEpNbkRnUi9mcjF3OGlSSTVHVGs0TzMzbm9MbjMzMm1YNmU0TWlSSS9EMjlzYUNCUXV3WU1FQzNMMTdGNk5IajBiUG5qMFJIaDZPbkp3Y2ZQZmRkeGcxYXBUK1cveVJJMGR3K1BCaEJBUUV3TmJXRnFtcHFUaDA2SkRCSWNZQWNQTGtTV1JsWldIZ3dJRkd2UStPam82SWpZM0Z5SkVqc1hqeFlrUkdSdUx0dDkvRzhPSERzV1RKRWd3ZE9oUjM3OTdGamgwNzhONTc3NVdieEs4c056YzM5T3JWQzh1WEw0Y1FBazJiTnNYWnMyZVJtWm1KQ1JNbVZMcWZkZXZXb1czYnR2RHc4TUN4WThkZ1kyT0RSbzBhbFp2dldiVnFGVlFxRlFZT0hJZ3JWNjRBS1BzQXJVd2RsUm0yVXFsVVdMSmtDUVlQSG93R0RScmd6Smt6MkxoeG8vN2J1VTZudy9qeDR6Rmx5aFQ5di8rRC92R1BmMkR3NE1Gd2RIUkVlbnE2UHRTQXNuQThlUEFnZkh4OEtuMHV6OUNoUXpGMjdGaWtwS1JnMEtCQk9IMzZOTFpzMldMUVp2anc0ZmprazAvZzRlR0JMbDI2NE5xMWEvaisrKy94ajMvOEF3Q0hyV29xaG9jSlZIVG9yVXdtdzVkZmZvbUNnZ0w0K3ZxaWQrL2UrUHp6ejFGWVdJaXBVNmZpdGRkZUF3QWNPM1pNL3h3aEJLS2lvbEN2WGozOTBKZUxpd3RDUTBNeGVmSmtmUG5sbDNCeWNzS3VYYnYwUXhwRlJVV1lPblVxT25YcXBKK1lybE9uRGs2ZlBvMFpNMllnS2lwSy84RjQvUGh4Yk5teUJaSWt3Y3ZMQzU5KyttbTVvNjIyYjkrT0kwZU9HQjBlQU5DMGFWTXNYYm9Va3laTlFwTW1UVEIyN0Znc1c3WU1hOWFzUVVwS0NobzBhSUNlUFhzKzg5bmJIMzMwRVZhc1dJR0ZDeGNDQUR3OVBZMCtEMGFuMDJIKy9Qa29MaTVHOCtiTkVSc2JpN3AxNnlJbkowZmY1c0tGQy9vUHpyZmVla3UvL01VWFgwUnljdkp6cWNQS3lncWxwYVdZTzNjdTd0NjlxeitjT1RnNEdFRFpBUmluVDU5KzVCbmcxNjVkd3djZmZBQ1pUQVkvUHorREljang0OGRqOGVMRkdETm1ERFp0MmxTcFE4VDkvZjB4YytaTXhNZkhZOW15WldqWHJoM0N3OE1SR1JtcGIvUFdXMi9oenAwNzJMUnBFMWF0V2dVUEQ0OUtEYkdSZWJQWVk5K2Fldm0wa1N1c1QzMitkaFZlNjJIY0lhM1ZSYTFXbzN2MzdraEpTU24zelV1bFVtSHMyTEVZTldvVSt2YnRxMTkrL3lUQnVMZzR4TVRFNFBEaHc5aXdZWVBCOEpNUUFoRVJFZEJxdFJneFlnVG16NStQSFR0MlFLMVdZK2pRb2NqUHowZmp4bzFSV2xvS25VNEhuVTRISVFUdTNMa0RQejgveE1iR1ZucHVSS2ZUb2FTa3hPaEpjNm9hMzN6ekRYNzU1UmVzV0xIQzFLWFVhcmR2NTJMeXpMbjQ3OEZmdjgvNGY4Y0dtYnFlcXNBOUR4T3lzYkhCOE9IREVSd2NySjlZdlUrdFZxTnIxNjc2UFk2SzJOdmJZL1hxMWVYbUxTUkp3cUpGaTNEZ3dBRzBiTmtTTTJiTWdKMmRIZXpzN0xCMDZWSzR1cnJDMGRFUnRyYTJzTFcxMVkrWDYzUTZyRml4QXJkdjM2NzBNTkhUSEcxRlZlZmt5WlBvMmJPbnFjdWdXb0I3SGtSRXp4bjNQSWhxa1duVHBsVjRBdVdzV2JQUXAwOGZFMVJFWkw0WUhrVDNHSE81RXFMYWpqZURJaUlpb3pFOGlJaklhQXdQSWlJeUdzT0RpSWlNeHZBZ0lpS2pNVHlJaU1ob0Zoc2VXcm1WRmdCMHBjWmRKWlNJNkZrSkNBaWREa0lTcFU5dVhUTlpiSGhBcXlzV0VNcmJ1WG1tcm9TSWFobU5Sb3RDcFJJUVV2YVRXOWRNRmhzZU5qcVVTTUMxWXljcXZ0YzBFVkZWS1N3cXdzVkxmd0tTT1BmazFqV1R4WjVocnRIa0Y4aHRHdnl3N2RzZG5xKytFaUJ2NDkwYUR2YjI1ZTdCVFVUMFBBZ2hvQzRwUVY1K1BtSS8vU2VLaXBSWFM2SGJiZXE2cW9yRlhoZ1JBSnEwOXZXMWdpemFXcUhvMjZhTk54clVydytGd21MemtvaE1TT2dFbE1YRnlMeVNoY3VaVjI0SlNZcVU3dVp2ek1qSVVKbTZ0cXBnMGVFQlFHcmExTmNKZGhncmc4d2ZrbkFESkJ0VEYwVTFnWkNzWkZJZGJTbUtJSUZIWGRBVENVZ0NRSzRFY1ZWb3hkckwxdHBUT0hPbTVJbFByS0VzUFR5SW5vcWZuNStySkVueE9wMXV4ckZqeHpKTVhRK1J1YkhZQ1hPaVp5R0VhQytFK0pzUXd0L1V0UkNaSTRZSFVRV0VFQ01sU1ZKSWtoUnM2bHFJekJIRGc2ZzhLNWxNOWlZQVNKTFVFNERpQ2UySmFoMkdCOUZEL1B6OEJnRndGRUlBUUNNL1A3ODNURndTa2RuaGNhdFVhd2toYkFBMGVIajUzLzcydHpGMzc5N1ZQN2F4c1JtZmxwYjJ5Mk82dWlWSmtxWUtTaVFpSW5NamhPZ3Juby91cG40dFJOV053MVpFUkdRMGhnY1JFUm1ONFVGRVJFWmplQkRkODhNUFB5QTRPQmhkdW5SQi8vNzljZWJNbVhKdFZDb1ZCZ3dZZ0NsVHBwaWdRaUx6d2FPdGlBQ2twS1JnMmJKbG1EaHhJdno5L1pHZG5ZMDZkZXFVYS9mVlYxL2gxcTFiSnFpUWlJak13djJqclFvTEM4V3JyNzRxdG0vZi90aERxcTVmdnk1NjkrNHRKazZjS0NaUG5zeWpyYWhXNDdBVjFYcjc5dTJEUXFIQW9FR0RIdHR1NmRLbENBNE9SdVBHamF1cE1pTHp4ZkNnV3UvVXFWUHc4dkpDVWxJUyt2ZnZqNy8rOWE5WXQyNGRTa3YvZC92cDVPUmtaR1JrSUNRa3hJU1ZFcGtQem5sUXJYZnIxaTFjdUhBQjd1N3VpSTZPUm5wNk9sYXNXSUU2ZGVwZytQRGh1SFRwRXVMaTRyQjY5V3JZMlBCMk1FUUF3NE1JT3AwT2RuWjIrT2lqanlDVHlkQzJiVnVjTzNjT08zZnV4Ri8rOGhkTW1USUZZV0ZoOFBYMU5YV3BSR2FENFVHMW5yT3pNenc4UENDVC9XOFU5OFVYWDhUQmd3ZXhkKzllWExseUJmSHg4WWlQandkUUZqWUEwS2xUSjZ4ZnZ4N3QyN2MzU2QxRXBzVHdvRnJQMTljWEJ3NGNnRXFsZ3EydExRRGcwcVZMYU5xMEtYcjM3bzIyYmRzYXRQLzg4OCtSbTV1TGFkT21vVW1USnFZb21jamtHQjVVNi9YdjN4OXIxNjdGZ2dVTEVCSVNnck5uejJMSGpoMklpWWxCM2JwMVViZHVYWVAyOWVyVmcwcWxncGVYbDRrcUpqSTlIbTFGdFo2RGd3UGk0K09SazVPRHNMQXdKQ1FrWU5hc1dlamVuYWR2RUJIUlEzaEpkcUtueHowUElpSXlHc09EaUlpTUpwbTZBQ0pURVkrNERlMVQ0RzFvaVlpSWlJaUlpSWlJaUlpSWlJaUlpSWlJaUlpSWlJaUlpSWlJaUlpSWlJaUlpSWlJaUlpZVV1MjRNS0tQajNXajIxYUtFb2NpSzJjNG03b2FJckpJZVNoUUtIUzJTcVUyS3l0TEJVQ1l1cUtxWk9IaDRXUGR0S1dpczB3bWpRV0VINEFXa2lUWm1yb3FJckk4UXFBVUVOa0Ewb1drMndab2t5K2ZQWHZkMUhWVkZZc09qeGRhdCsxbkJhdDRWOWNHWHU4RUI4SEw4eVVvckJXbUxvdUlMSkJPcDBOZVhqNE9IUHdadTM5TVZldUE5WVZhNWR6Y0N4Y0tURjFiVmJEWThQRDA5S3luczNIY2JHL25NR2ovcmhTNHVycVl1aVFpcWlXV0xJL0J4c1FrVGFsV096Z3ovZFNQcHE2bktsanNuUVRWTXNjNkVGSzM4TkdoREE0aXFsYnZCZytEaDd1YlFpYVREVEoxTFZYRllzTkRFcVcyZ0ZTM1JYTlBVNWRDUkxXTXZiMGRQRHpjQVVpTlRWMUxWYkhZOEpCSndrYVNJTGV6NS93NEVWVXZ1VXdPV3hzYkFKS2pxV3VwS2hZYkhrUkVWSFVZSGtSRVpEU0dCeEVSR1kzaFFVUkVSbU40RUJHUjBSZ2VSRVJrTklZSEVSRVpqZUZCUkVSR1kzZ1FFWkhSR0I1RVJHUTBoZ2NSRVJtTjRXRWlKU1VseU1qSTBEOVdxOVZZczJZTnRGb3RBRUNsVWlFOVBkMVU1VldaUFh2Mm9HdlhycVl1UXk4bkp3Y2RPblRBeVpNbm4rcjVOMjdjUU4rK2ZYSDA2TkhuWEpuNWV2ZmRkL0hGRjE4OGN2MlJJMGZRb1VNSEZCWVdWbU5WVk4yc1RGMUFiWFhxMUNsTW56NGRxMWV2aHJlM04wNmZQbzA5ZS9iZzczLy9Pd0FnS2lvS2hZV0ZpSXVMQTFBV0psZXZYa1ZCUVFGeWMzT1JuWjBOSHg4Zk5HM2FGTVhGeFJWdXc5WFZGYmEyWlJlR0RBb0tRbloyTm1TeXgzOWZVQ3FWMkxKbEM3eTh2UERUVHo4aFBqNGVseTlmUnFOR2pUQml4QWdFQlFVOXgzZWg1bk53Y0VEWHJsM2g0bUtheS81LzlkVlhXTGx5SlRadjNveFdyVm85VTE5S3BSSXFsUW9OR2pSNGJMc3VYYnJncFpkZWVxWnRQWTJpb2lKRVIwZGozNzU5RUVMQTM5OGYwNmRQaDRlSFI3WFhRZ3dQay9IMzkwZEVSQVEyYjk2TXhZc1hZLy8rL2VqUm93Y0E0TXlaTTdoNDhTTFdyMSt2YjMvaHdnVkVSVVZCcDlPaHNMQVF2WHIxUXJObXpiQnk1VXFjT1hPbTNDLzh4WXNYOGZISEh5TWdJRUMvTENFaEFWNWVYbyt0NjM0NGFEUWFMRnUyRE9IaDRXalpzaVhTMHRLd2ZQbHlPRHM3NC9YWFgzOWViME9ONStqb2lNV0xGNXRrMjBxbEVoczJiSGh1L1FVR0JtTENoQWtZTW1USVk5dE5talRwdVczVEdKczJiVUpwYVNrKytlUVRhTFZheE1mSFkvTGt5ZGl5WlFza3lXTHZhMmUyR0I0bWtKcWFpalZyMXVnZkJ3VUY0ZHExYTZoVHB3NSsvdmxuQUdXM3RBd0xDd01BZlBMSkoyamJ0aTIyYk5tQ1gzNzVCVnUzYnNXTUdUTUFBUC81ejM4UUdocUtOOTk4MDJBYjQ4YU5lNllhWlRJWk5tM2FwUDlHM2JwMWF4dzdkZ3o3OSs4M20vQVFRdFRxRDQzNCtIaDA2TkFCZS9mdWZTNzlhVFNheDY3WDZYUlAzSE90U2tPSERvV2JtNXYrOGJ4NTgvRFdXMjhoS3lzTEw3endnc25xcXEwWUhpWVFFQkNBZHUzYTZSLy8rT09QMkxadEc5YXVYVnRoZTJkbjUrZXkzYkN3c0VvTld3R0FYQzR2TnhSamEydUwwdEpTZzJXblQ1L0cxYXRYMGE5ZnY2ZXFhY3VXTFlpTmpjWHExYXZScVZNbm5ENTlHc3VYTDhmNTgrZlJ1SEZqakJzM1RoOVd5NVl0dzVVclY5Q21UUnNrSlNWaDNyeDVzTGEyeHJ4NTh4QWJHNHZvNkdoY3YzNGRIVHQyUkdSa0pCT2hNWmtBQUNBQVNVUkJWSnljbkFCQS95MDFKU1VGUWdoMDY5WU4wNmRQMTYrdkRKVktoZGpZV096ZHV4ZkZ4Y1hvMnJVclltSmlrSk9UZy83OSt5TXhNUkcrdnI0WVBIZ3dzck96RFo3cjYrdUx4TVRFNTFMSGZhZE9uY0x1M2J1eGNlTkdvOElqS3lzTEsxYXNRRnBhR21ReUdVSkRReEVRRUlCMzNua0hBQkFaR1luSXlFZ2tKU1hCdzhNRGZmcjB3YUpGaTVDWW1JaVNrcEwvMzk2OXgwVlY3dnNELzZ6aE1vQW9rSEM0U0lpWExDQTlEdVVsMUVPSWVuNXE2UzlORFRjb3BzUU9SUTlLNGkwVlJVTlJFSUZVdGdwcVh0b2FFcDdVczkwN282eGRiWDVlVXJRRFl0NWxGeWlDM0lkNWZuOGdhek15eUV4ZUJ1SHpmcjE4Q2VzMjN3WERmTlo2bm1ldGhjOC8veHpqeG8zRG0yKytLUi9jNU9Ua1lQMzY5ZmpsbDEvUXJWczNqQjA3dHNucmZ2SEZGMGhOVFVWUlVSRThQRHdRRlJXRkYxNTR3YUI5Ymh3Y0FPUW1XU0dFUWR1aHg0UGg4WlNwMVdyY3ZuMWJhOXJodzRjeFpNZ1ExTlRVNkZ5bnVMZ1lKMDZjUUdKaUltcHJhNkZXcStIcjY0dkJnd2NiOU5yNk5Gc1ZGQlRBMWRWVlp3M1oyZG1JaUlqUW1wNlptWW1jbkp6ZkZSNDVPVGxJU0VqQTRzV0wwYTlmUHhRWEZ5TXNMQXlUSjAvRzBxVkxjZWJNR1N4YXRBaHVibTdvMWFzWEFDQS9QeDhPRGc3WXRtMGI3T3pzY083Y09halZhaHc4ZUJCYnQyNUZlWGs1M252dlBXemJ0ZzN6NXMwRFVIK0UvczAzM3lBMk5oWWRPblRBK3ZYckVSTVRnM1hyMXVsZDY1WXRXL0RERHo4Z0lTRUJabVptelhhd2I5MjZWUjcwY09yVUtjVEV4Q0FxS2txdk9oSVRFNUdSa2FGenU1czJiWUtucHljQW9MS3lFa3VXTEVGNGVEaHNiR3owM2djQVdMUm9FZXp0N1pHZW5vN1MwbElVRnhlamUvZnV5TXpNUkZCUUVLWk5tNGFoUTRmQzBkRlI3a3ZidVhNbklpSWkwTEZqeHliYkt5d3NSSGg0T1B6OS9iRnc0VUpjdVhJRkd6WnMwRnJtMjIrL3habzFhN0Jnd1FMMDZ0VUxCdzRjUUhoNE9ESXpNMkZoWVlIczdHd3NYYnBVWjcyaG9hRnlzRDNvNE1HRGNISnkwdmwrcFNlUDRmR1UvZmJiYjNLVEV3QmN1blFKbHBhV0VFSWdKeWNIQUpDWGx3Y1hGeGRZVzljL2hNeloyUmx4Y1hFWU4yNGNGaTllakh2Mzdza2Q2UXNYTHRUcmRXdHJhMkZpWW9MRXhFU2NPWE9tMmVXOHZiMHhhOVlzclduLy9PYy84Vi8vOVY5NDhjVVg4Y1liYjJqTlc3aHdZYk9oOXpBM2I5NUVWRlFVcGsyYkpyZXg3OXk1RXlxVkNxR2hvUUNBSGoxNjROaXhZemg2OUtnY0hsVlZWVml3WUFHVVNpV0EraU53SVFSbXo1NE5XMXRiMk5yYVl0U29VWEx6WDBsSkNmYnMyWVAwOUhSNGVIZ0FBTUxEd3pGOStuUlVWVlhwWGUvVnExZmg2dXFLM3IxN0E2aHZ4dFBGMmRsWnJuUDc5dTJZT25VcVBEdzhXcXpEd3NJQ3djSEJ6UTVJYUh3V3VIYnRXcmk3dTJQczJMRW9LU25SZXg4QTRNcVZLL0R6ODBPUEhqMjBwai8vL1BOUUtCU3dzN09UbTRBYXdtUGt5SkZhZldlTjdkNjlHMDVPVGxpeFlnVVVDZ1g2OU9tRDB0SlN4TWZIeTh0czJyUUpJU0VoR0RXcS9uSGVrWkdSeU1yS3dzbVRKK0hqNDRNQkF3Wmc3OTY5T3JmZnFWTW5uZE0vL2ZSVDdOcTFDd2tKQ1VadFNtdlBHQjVQbWJPek16NzU1Qk5vTkJva0p5ZERyVllqS1NrSkRnNE84akxIangvSGxpMWJzR1RKRXEwUHFkTFNVbnoxMVZld3M3UEQ4dVhMc1d6Wk1nQkFRa0lDUHY3NFk2M1hLUzB0eFpRcFUrVHZLeW9xWUdWbGhVbVRKbUgwNk5ITjF0Y1FXQTFPbmp5SnFLZ29lSHQ3SXpvNkdxYW0ybThaaFVJaE54L29Td2lCdVhQbm9uLy8vbHA5TXhjdVhNQ1pNMmN3YU5BZ2VWcHRiYTFXczA3UG5qM2w0R2hnYW1xcWRmVHA0T0NBTzNmdUFLZy9rMUtyMVpneFkwYVRPZ29MQzV2c2IzTW1USmlBaUlnSUJBY0hJemc0R0w2K3ZnL3RiMGxPVG9hNXVUbmVlKzg5dmVwd2QzZUhqWTFOaTJjU24zNzZLYjcvL3Z0bVAyeGJFaGdZaUpTVUZPVGw1V0hLbENseWtEMU13eG1QTHZuNStSZ3dZSURXQjNqamJhclZhdVRuNTZPZ29BQ2JOMitXcDFkWFYrUFdyVnNBNnB1ZjlCMHhWVjFkamRqWVdCdy9maHlKaVltdGF0aDNlOFB3TUlLZmZ2b0pHemR1UkUxTkRXN2R1cVh6dFB6RkYxL0VuRGx6NE9IaGdhRkRoMkxNbURISXlNaUF0N2MzZ1Bvem1LU2tKRGc3T3lNNk9ocCtmbjVhNjY5YXRRb2RPblFBVVA4SGZQZnVYWFRxMUFtV2xwWjYxNW1kblkyRkN4Y2lMQ3dNZ1lHQmo3REhUVGs1T1NFdkx3OWxaV1Z5YzRoYXJjYUlFU1BrRDl3R2pXdldWZitESCtJS2hVSnVCMjlvUWtwTlRXMXlGT3ZrNUlTN2QrL3FWZS9BZ1FPUm1abUpYYnQyWWRHaVJlalhyMStUNXBrR3AwNmR3djc5KzVHV2xnWXpNek85NmdDQStQaDRmUGJaWnpxM21acWFDaTh2TDZTbnArUFhYMy9GOE9IRHRlWUhCZ2FpZi8vK1NFbEplZWgraElTRXdNZkhCMmxwYVFnTURNVHMyYk14ZGVyVWg2N3pzUGRNWldWbGsvbU4rOFdFRUtpcnE4UGN1WE9ibkwwMDlPVWRQMzRjUzVZczBibjk5OTkvWDM3dlZWZFhZOWFzV1Nndkw4ZWVQWHM0Uk5mSUdCNVAyZVhMbHhFYUdvcUFnQUJNbmp3WmI3enhCckt6czdXVzJieDVNNVJLSlZhc1dJRzB0RFRjdUhFREpTVWwyTHQzTHlJaUluRGt5QkhFeE1RZ096c2JZOGFNUVVsSkNkUnF0WHhXVUZwYWlzV0xGOHZidTNyMUt1enQ3YkYyN1ZwOCtlV1hBT3FQNkt1cnEzVWVlZmZzMlJQcjE2L0hoeDkraUNWTGxzak5EWStMSkVtSWlZbkIxS2xURVJrWmlaU1VGSmlhbXNMZDNSMFhMbHg0ckNObnVuYnRDZ0Q0OWRkZjRlWGw5VWpiY25SMFJHUmtKSVlPSFlxUWtCQmN2SGl4eVdDR3Fxb3FMRisrSEVGQlFWcEg3UHJVTVgzNmRMenp6anM2NXpVMFd6VytrQlFBeXNyS01HUEdETVRHeHVwMUZnRUFYbDVlV0xkdUhWSlRVNUdXbGlhSGh5UkowR2cwZW0yamdhdXJLL0x5OHJTbS9menp6L0xYWm1abTZOS2xDNjVkdTliczcvVzExMTdEL3YzN2RjNXJITFJidDI1RldWa1owdExTRERvSW9pZUQ0ZkdVdWJ1NzQvRGh3N0N6czlOcXI5Wm9OUGpIUC80QnBWS0pyNy8rR3NIQndhaXJxOFBNbVROaFlXR0J3NGNQWSt6WXNmSWZrNDJORGNhTUdZT2FtaHFFaDRkanhJZ1JDQW9LUWxGUkVTWk9uSWpObXpmTC9RUTVPVG53OFBEQXNtWExzR3paTWxSV1ZtTDY5T253OWZWRmFHZ29pb3FLOE1VWFgyREtsQ255VWZ6aHc0ZFJYVjBOWjJmbkpsZFA5KzNiVjE3dTdObXp1SDc5T2thT0hHblF6OEhhMmhvSkNRa0lDZ3JDeXBVckVSMGRqWGZlZVFjQkFRRll0V29WeG84Zmo4cktTaHc2ZEFqdnZ2dnU3KzRVZFhKeWdwK2ZIOWF1WFFzaEJOemMzSERod2dWY3ZYb1ZNMmZPMUhzN3FhbXBlUG5sbCtIaTRvTFRwMDlEcVZUQzBkR3hTWDlQVWxJU3FxcXFNSExrU0Z5N2RnMUEvUWVvUG5YbzAyemw3dTZ1OVgzRGU4alYxUlV1TGk3UWFEUUlDd3ZEM0xsejVkOS9ZNnRYcjhibzBhTmhiVzJOL1B4OE9kU0ErbkE4Y2VJRVBEMDk0ZWpvcU5mUFpmejQ4UWdKQ1VGV1ZoWkdqUnFGM054YzdOdTNUMnVaZ0lBQWJOaXdBUzR1TGhnd1lBQnUzcnlKSTBlT1lQWHExUUQwYjdiNnkxLytndjc5KzJ1RkUxRC9PMjdvYTZLbmgrRmhCTHFHM2lvVUN1emV2UnVscGFYbzNiczNoZzRkaXUzYnQ2T3NyQXp6NXMzRDY2Ky9EZ0E0ZmZxMHZJNFFBakV4TWJDeHNaR2J2dXp0N1JFY0hJeUlpQWpzM3IwYnRyYTJPSHIwS041KysyMEE5VmZwenBzM0QvMzY5Wk03cGp0MjdJamMzRnpNbno4Zk1URXhVQ3FWdUgzN2RyTnQ5Tjk5OTUzYzcvRDU1NThqSnlmSDRQQUFBRGMzTjhUR3htTDI3Tmx3ZFhWRlNFZ0kxcXhaZzAyYk5pRXJLd3VkTzNlR3I2L3ZJMSs5L2VHSEh5SXVMZzdMbHk4SEFIVHYzdDNnNjJBMEdnMldMbDJLaW9vSzlPalJBd2tKQ2VqVXFST0tpb3JrWlM1ZXZDaC9jRTZjT0ZHZTNyVnJWMlJrWkR5V09scHk2ZElsNU9ibU5uc0YrTTJiTnpGcjFpd29GQXFvVkNxc1dyVktuaGNXRm9hVksxZGl4b3daMkxGamgxNUR4TDI5dlJFVkZZV1VsQlNzV2JNR2ZmcjBRV2hvS0tLam8rVmxKazZjaUx0MzcyTEhqaDFJU2txQ2k0dUwvSDQweE8zYnQ1R1JrZEZrUk5yVXFWT05kdUZpZTlabXI3Qnk2K25wWldKbWZtNzdsaVM4UHNTd0lhMVBTM1YxTlFZTkdvU3NyS3dtUjE1VlZWVUlDUW5CbENsVHROcTNHeTRTVEV4TVJIeDhQSDc4OFVkczNicFZxL2xKQ0lFNWMrWkFyVllqTURBUVM1Y3V4YUZEaDFCZFhZM3g0OGVqcEtRRVhicDBRVjFkSFRRYURUUWFEWVFRdUh2M0xsUXFGUklTRXZSdUZ0Qm9OS2lwcVRHNDA1eWVqSU1IRCtLNzc3NURYRnljc1V0cDE0cUxieU1pYWpHK09mSDlrY3YvZS9yeHR2dTJFanp6TUNLbFVvbUFnQUJNbWpSSjdsaHRVRjFkallFREI4cG5ITHBZV1ZraE9UbTVTYitGSkVsWXNXSUZzck96MGF0WEw4eWZQeCtXbHBhd3RMUkViR3dzSEJ3Y1lHMXREUXNMQzFoWVdNaDlKUnFOQm5GeGNTZ3VMdGE3bWVqM2pMYWlKK2ZzMmJQdzlmVTFkaG5VRHZETWc0am9NZU9aQjFFN0Voa1pxZk1DeWdVTEZzRGYzOThJRlJHMVhnd1BvdnNNdVYwSlVYdkg2L3FKaU1oZ0RBOGlJaklZdzRPSWlBekc4Q0FpSW9NeFBJaUl5R0FNRHlJaU1saWJEUSsxaWFrYUFEUjFodDBsbElqb1VRa0lDSTBHUWhKMUxTLzliR3F6NFFHMXBrSkFsQmZmdm1Qc1NvaW9uYW10VmFPc3ZCd1FVbUhMU3orYjJteDRLRFdva1lDYnAzL1MvYXhwSXFJbnBlemVQUlJjK2dXUXhNOHRMLzFzYXJOWG1OZldscFNhS0R2L3o0SE1ROTMvWTdDUGlaZkhTK2hnWlFVVEV4TmpsMFpFYlpBUUF0VTFOYmhUVW9LRWpSL2ozcjN5RzNYUS9NWFlkVDBwYmZiR2lBRGcrbEx2M3FaUXJEYzNNeHZ1NWVXQnpzODlCek96TnB1WFJHUkVRaU5RWGxHQnE5ZXU0OHJWYTc4SlNZcVdLa3UyWGI1OHVjcll0VDBKYlRvOEFFaHVicjF0WVlrUUJSVGVrSVFUSUNtTlhSUTlDNFJrcXBBNnF1dHdEeEk0Nm9KYUpDQUpBTGNsaUJ0Q0xiWmNNVmVmdy9uek5TMnUrSXhxNitGQjlMdW9WQ29IU1pKU05Cck4vTk9uVDE4MmRqMUVyVTJiN1RBbmVoUkNpTDVDaVA4cmhQQTJkaTFFclJIRGcwZ0hJVVNRSkVsbWtpUk5Nbll0UkswUnc0T29LVk9GUXZFV0FFaVM1QXZBcklYbGlkb2RoZ2ZSQTFRcTFTZ0Exa0lJQUhCVXFWUmpqVndTVWF2RDhDQjZnQkRpRHc5TWV0Y29oUkMxWWd3UG9rWThQVDNkSkVsU0FZQWsxUTlHbENTcHI2ZW5wNXRSQ3lOcVpSZ2VSSTJZbVpuOWh5UkpqZzlNdGpVM054OWlsSUtJV2ltR0I5Ry9tSnFZbUx3cWhMQnVQRkVJWWFGUUtQcjE3Tm1URjVnUzNjZndJTHJ2cFpkZXNoRkNEQWFnYU5Sa0JRQ1NFR0t3bFpXVmd6SHJJMnBOR0I1RTk1bWJtM2VWSk1sTDF6eEprcnhNVEV5ZWY5bzFFYlZXREEraSsweE1USVlEc0dobXRnV0E0VSt4SEtKV2piZVlKZnFYWVVLSXl3QWdoRENUSktrTGdGc0FxdTlmOCtGcnpPS0lXaFBlR0pGSUI1Vks1U2xKVXE0UXd1ZlVxVk4vTjNZOVJLME5tNjJJaU1oZ2JMYWlka3NJb1FUUVdkZThtSmlZZnp0eDRnVDY5dTFyZi9Ma1NaY1dOdldiSkVtMWo3OUNJaUpxZFlRUXc4WGpNY2pZKzBMMHRMSFppb2lJRE1id0lDSWlnekU4aUlqSVlBd1BhdmZ1M2J1SFJZc1dZZGl3WVJneVpBaG16WnFGNjlldnkvT0ZFTmkrZlR0R2pSb0ZIeDhmQkFVRklTY254NGdWRXhrZnc0UGF2ZExTVXRqYTJtTGR1bldJajQvSDdkdTNFUmtaS2MvLzhjY2Y4ZlhYWDJQaHdvWFl1blVyZXZYcWhUbHo1dURXclZ0R3JKcUlpSXlpdWRGVzMzenpqZkQyOWhiRnhjVkNDQ0YrKyswM1VWdGJLOCt2cTZzVHc0WU5FeGtaR1J4dFJlMFdyL01nMHNIVTFCUldWbFlBQUh0N2U2MTVDb1VDNXVibXVIL0xFcUoyaWVGQmRKOUdvOEdsUzVld2VmTm1CQVFFd01KQzl6MFMvLzczdjZPd3NCQ3Z2dnJxVTY2UWlJaU1ybkd6MVpZdFc4U3JyNzRxdkwyOVJWUlVsS2lvcU5CNU5lREpreWVGcjYrdlNFNU81a1dDUkVUdFVlUHd1SFBuanNqTHl4TmZmLzIxQ0FzTEUrUEdqUk5sWldWYXdiRnYzejR4Y09CQWtaNmV6aXZNaVlqYXErWTZ6R3RxYXNUZ3dZUEZaNTk5SmsvYnNHR0Q4UFB6RXovODhJT3VWUmdlMU82d3o0UG9BWklrUWFGUXdOUzAvcy9qKysrL3gvNzkrL0hKSjUvQTNkM2R5TlVSdFE0TUQycjM5dTNiQjFOVFUzaDVlYUc2dWhxN2R1MkNVcW5FNE1HREFRREhqaDFEdDI3ZGNPZk9IZHk1YzBkZXo5cmFHaSs4OElLeHlpWXlLb1lIdFh0ZHVuUkJTa29LNHVQajBhRkRCL3o3di84N1VsTlQ4ZHh6endFQWlvdUxjZjc4ZWN5WU1VTnJ2WmRmZmhrN2R1d3dSc2xFUkdRc3pmVjUvQTdzODZCMmg3Y25JU0lpZ3pFOGlJaklZSkt4Q3lBeUZ2SHd4OUQyT25IaXhQRytmZnVPaVkyTi9YOHRiSXFQb2FWMmgrRkJwSU5LcGZLVUpDbFhDT0Z6NnRTcHZ4dTdIcUxXaHMxV1JFUmtzUFl4Vk5mVDA5eXgyTlNzcHNNOVV6dllHYnNhZWdhVWw5ZG9PblF3UFZSZHJhbnEzdjBWRzJQWFE4K0NPeWcxTTlOWWxKZXJyMSsvWGdXZ1RkOTJ1WTAzVzNtYXUvVXk2NjlRU0NHQVVBRjRRWklrM2JkS0pXcEVDQUZKQW9Tb3YrS2NxQ1ZDb0E0UWhRRHloYVE1QUtnenJseTQwR2FmR05hbS95cWVmK25sRWFZd1RYRnc2Tnh6OHFRSjZObTlHOHpNell4ZEZoRzFRUnFOQm5mdWxDRDd4TGY0eTdFdnF6WEFuOHJVNVl0dlg3eFlhdXphbm9RMkd4N2R1M2UzMFNpdDkxaFpkaGoxMWRFc09Eall0N3dTRWRGanNHcHRQTGFsNzZxdFU2dEhYODAvZDh6WTlUd0piYmJEdkZwaDNSRkNlaTEwZWpDRGc0aWVxajlNZWhzdXprNW1Db1ZpbExGcmVWTGFiSGhJb3M0Q2tEcTkwS083c1VzaG9uYkd5c29TTGk3T0FLUXV4cTdsU1dtejRhR1FoRktTWUdKcHhmNXhJbnE2VEJRbXNGQXFBVWpXeHE3bFNXbXo0VUZFUkU4T3c0T0lpQXpHOENBaUlvTXhQSWlJeUdBTUR5SWlNaGpEZzRpSURNYndJQ0lpZ3pFOGlJaklZQXdQSWlJeUdNT0RpSWdNeHZBZ0lpS0RNVHlNcEthbUJwY3ZYNWEvcjY2dXhxWk5tNkJXcXdFQVZWVlZ5TS9QTjFaNVQ4eGYvL3BYREJ3NDBOaGx5SXFLaXZES0s2L2c3Tm16djJ2OWYvN3pueGcrZkRoT25UcjFtQ3RydmY3d2h6OWc1ODZkemM3UHljbkJLNis4Z3JLeXNxZFlGVDF0N2VNeHRLM1F1WFBuOE1FSEh5QTVPUmtlSGg3SXpjM0ZYLy82Vjd6Ly92c0FnSmlZR0pTVmxTRXhNUkZBZlpqY3VIRURwYVdsdUgzN05nb0xDK0hwNlFrM056ZFVWRlRvZkEwSEJ3ZFlXTlRmR0hMQ2hBa29MQ3lFUXZIdzQ0WHk4bkxzMjdjUFBYdjJCRkQvUkwxRGh3N2h6My8rTXo3NTVKUEh0ZnR0Um9jT0hUQnc0RURZMnorOTIvNlhsWlZoM2JwMStPcXJyd0FBdnI2KytPQ0REOUN4WThkSDJtNTVlVG1xcXFyUXVYUG5oeTQzWU1BQWRPdlc3WkZlNjFIbDVlVmg4dVRKbUR0M0xpWlBubXpVV3RvcmhvZVJlSHQ3WTg2Y09kaXpadzlXcmx5SnI3NzZDa09HREFFQW5EOS9IZ1VGQmZqVG4vNGtMMy94NGtYRXhNUkFvOUdnckt3TWZuNStjSGQzeDdwMTYzRCsvUGttZi9BRkJRWDQ2S09QNE9QakkwOUxTMHVUUTZFNUV5Wk1rTDgrZXZRb2R1ellnVXVYTHFGTGx6WjdaK2xIWW0xdGpaVXJWejdWMTF5OWVqV3VYTG1DRFJzMkFBRGk0dUt3ZXZWcWZQVFJSNCswM1hIanhtSG16SmtZTTJiTVE1ZWJQWHYySTczTzQ3Qng0MFlJMGFZZkVkN3FNVHlNNE1zdnY4U21UWnZrN3lkTW1JQ2JOMitpWThlTytQYmJid0hVUDlKeTJyUnBBSUFOR3piZzVaZGZ4cjU5Ky9EZGQ5L2gwMDgveGZ6NTh3RUEvLzNmLzQzZzRHQzg5ZFpiV3EveHh6Lys4Wkhyek1qSWdKK2ZIL3o5L1hINDhPRkgzdDdqVnYrYzhUYjdNTXhtblR0M0RtRmhZVkNwVkFDQTRPQmdKQ2NuUC9KMmEydHJIenBmbzlHMGVPYjZOSHo1NVpmNDlkZGYwYlZyVjJPWDBxNHhQSXpBeDhjSGZmcjBrYjgvZHV3WURodzRnQzFidHVoYzNzN083ckc4N3JScDAvUnF0bXF3WmNzV1NKTDAwUGJ0M054YzNMaHhBeU5HalBoZE5lM2J0dzhKQ1FsSVRrNUd2Mzc5a0p1Ymk3VnIxeUl2THc5ZHVuVEJILy80Und3Yk5nd0FzR2JOR2x5N2RnMWVYbDdZdFdzWGxpeFpBbk56Y3l4WnNnUUpDUWxZdjM0OWJ0MjZoVmRmZlJYUjBkR3d0YlVGQUtqVmFxU2twQ0FyS3d0Q0NMejIybXY0NElNUDVQbjZxS3FxUWtKQ0F2NzJ0Nytob3FJQ0F3Y09SSHg4UElxS2l2Q2YvL21mU0U5UFIrL2V2VEY2OUdnVUZoWnFyZHU3ZDIra3A2Yy9sam9BWU5pd1ljakt5a0wvL3YwQkFKbVptZkxQcUNYWHIxOUhYRndjVHA0OENZVkNnZURnWVBqNCtNaE5QOUhSMFlpT2pzYXVYYnZnNHVJQ2YzOS9yRml4QXVucDZhaXBxY0hubjMrT2NlUEc0YzAzMzVRUGJuSnljckIrL1hyODhzc3Y2TmF0RzhhT0hkdmtkYi80NGd1a3BxYWlxS2dJSGg0ZWlJcUt3Z3N2dkdEUWZnUEF2WHYzc0hidFdxeGF0UXF4c2JFR3IwK1BEOFBqS1ZPcjFiaDkrN2JXdE1PSEQyUElrQ0dvcWFuUnVVNXhjVEZPbkRpQnhNUkUxTmJXUXExV3c5ZlhGNE1IRHpib3RmVnB0aW9vS0lDcnF5c0E2SFZVbjVtWmlaeWNuTjhWSGprNU9VaElTTURpeFl2UnIxOC9GQmNYSXl3c0RKTW5UOGJTcFV0eDVzd1pMRnEwQ0c1dWJ1alZxeGNBSUQ4L0h3NE9EdGkyYlJ2czdPeHc3dHc1cU5WcUhEeDRFRnUzYmtWNWVUbmVlKzg5Yk51MkRmUG16UU1BcEtTazRKdHZ2a0ZzYkN3NmRPaUE5ZXZYSXlZbUJ1dldyZE83MWkxYnR1Q0hIMzVBUWtJQ3pNek1tdTFnMzdwMXF6em80ZFNwVTRpSmlVRlVWSlJlZFNRbUppSWpJMFBuZGpkdDJnUlBUMDhBUUZoWUdLWk5teWIvekY5NjZTVzVyNndsaXhZdGdyMjlQZExUMDFGYVdvcmk0bUowNzk0ZG1abVpDQW9Ld3JScDB6QjA2RkE0T2pyS2ZXazdkKzVFUkVTRXpqNlZ3c0pDaEllSHc5L2ZId3NYTHRScVRtdnc3YmZmWXMyYU5WaXdZQUY2OWVxRkF3Y09JRHc4SEptWm1iQ3dzRUIyZGphV0xsMnFzOTdRMEZDdFBvMlBQdm9JL2ZyMXd5dXZ2S0xYL3RLVHcvQjR5bjc3N1RlNXlRa0FMbDI2QkV0TFN3Z2hrSk9UQTZDK005REZ4UVhXMXZVUElYTjJka1pjWEJ6R2pSdUh4WXNYNDk2OWUzSkgrc0tGQy9WNjNkcmFXcGlZbUNBeE1SRm56cHhwZGpsdmIyL01talZMNy8xWnVIQmhzNkgzTURkdjNrUlVWQlNtVFpzbXQ3SHYzTGtUS3BVS29hR2hBSUFlUFhyZzJMRmpPSHIwcUJ3ZVZWVlZXTEJnQVpSS0pZRDZKaHdoQkdiUG5nMWJXMXZZMnRwaTFLaFJjdk5mU1VrSjl1elpnL1QwZEhoNGVBQUF3c1BETVgzNmRGUlZWZWxkNzlXclYrSHE2b3JldlhzRHFQL0Exc1haMlZtdWMvdjI3Wmc2ZFNvOFBEeGFyTVBDd2dMQndjRmFmVTZOTmU2UVg3MTZOV3ByYTVHVWxBU2dQblJpWTJQeDRZY2Z0cmdmVjY1Y2daK2ZIM3IwNktFMS9mbm5uNGRDb1lDZG5SMmVmLzU1QUpERFkrVElrVnA5WjQzdDNyMGJUazVPV0xGaUJSUUtCZnIwNllQUzBsTEV4OGZMeTJ6YXRBa2hJU0VZTmFyK2NkNlJrWkhJeXNyQ3laTW40ZVBqZ3dFREJtRHYzcjA2dDkrcFV5ZjU2ME9IRHVIa3laUDQ4NS8vM09KKzBwUEg4SGpLbkoyZDhja25uMENqMFNBNU9SbHF0UnBKU1Vsd2NIQ1FsemwrL0RpMmJObUNKVXVXYUgxSWxaYVc0cXV2dm9LZG5SMldMMStPWmN1V0FRQVNFaEx3OGNjZmE3MU9hV2twcGt5WkluOWZVVkVCS3lzclRKbzBDYU5IajI2MnZvYkEwcGRDb1pCSGRPbExDSUc1YytlaWYvLytXbjB6Rnk1Y3dKa3paekJvMENCNVdtMXRyVmF6VHMrZVBlWGdhR0JxYWlxZkxRSDFvOHp1M0xrRG9QNU1TcTFXWThhTUdVM3FLQ3dzMUh0L0oweVlnSWlJQ0FRSEJ5TTRPQmkrdnI0UFBUTkxUazZHdWJrNTNudnZQYjNxY0hkM2g0Mk5EV3hzYkI1YXg3VnIxNUNWbFlVREJ3N0lJNTVjWFYzeDFsdHZZZHEwYVZvL0IxMENBd09Sa3BLQ3ZMdzhUSmt5UlE2eWgyazQ0OUVsUHo4ZkF3WU0wR29PYmJ4TnRWcU4vUHg4RkJRVVlQUG16ZkwwNnVwcTNMcDFDd0JnWVdFQkZ4ZVhoOVp3L3Z4NXJGbXpCc25KeVk4OHFvd2VENGFIRWZ6MDAwL1l1SEVqYW1wcWNPdldMWjFERFY5ODhVWE1tVE1ISGg0ZUdEcDBLTWFNR1lPTWpBeDRlM3NEcUQrRFNVcEtnck96TTZLam8rSG41NmUxL3FwVnE5Q2hRd2NBOVgvQWQrL2VSYWRPbldCcGFmbmtkMUFQVGs1T3lNdkxRMWxabWZ4aG9GYXJNV0xFQ1BrRHQwSGptblhWLytDSHVFS2hrRWZpTkRRaHBhYW1haDNGTnRSdzkrNWR2ZW9kT0hBZ01qTXpzV3ZYTGl4YXRBajkrdlZyMGp6VDROU3BVOWkvZnovUzB0SmdabWFtVngwQUVCOGZqODgrKzB6bk5sTlRVK0hsNVlXQ2dnS1ltcHBxRFpWMWMzT0RsWlVWTGw2ODJHSjRoSVNFd01mSEIybHBhUWdNRE1UczJiTXhkZXJVaDY3enNQZE1aV1Zsay9sMWRYWHkxMElJMU5YVlllN2N1VTNPWGhyNjhvNGZQNDRsUzVibzNQNzc3NytQd01CQTdOMjdGNVdWbFFnSkNaSG5hVFFheE1mSFkrUEdqZmorKys4ZnVnLzArREU4bnJMTGx5OGpORFFVQVFFQm1EeDVNdDU0NHcxa1oyZHJMYk41ODJZb2xVcXNXTEVDYVdscHVISGpCa3BLU3JCMzcxNUVSRVRneUpFamlJbUpRWFoyTnNhTUdZT1NraEtvMVdxWW10Yi9Pa3RMUzdGNDhXSjVlMWV2WG9XOXZUM1dybDJMTDcvOEVrRDlFWDExZGJYT0krK2VQWHRpMjdadFQreG5JRWtTWW1KaU1IWHFWRVJHUmlJbEpRV21wcVp3ZDNmSGhRc1g1R2FUeDZGaFJNNnZ2LzRLTHkrdlI5cVdvNk1qSWlNak1YVG9VSVNFaE9EaXhZdE5Cak5VVlZWaCtmTGxDQW9LMGpwaTE2ZU82ZE9uNDUxMzN0RTVyNkhaeXNIQkFXcTFHdGV2WDVlRDR0YXRXNmlvcU5BNmUzMFlMeTh2ckZ1M0RxbXBxVWhMUzVQRFE1SWthRFFhdmJiUndOWFZGWGw1ZVZyVGZ2NzVaL2xyTXpNemRPblNCZGV1WFd2MjkvcmFhNjloLy83OU91YzFCTzJzV2JPYWhOeThlZlBnNysvLzBETnBlbklZSGsrWnU3czdEaDgrRERzN081U1VsTWpUTlJvTi92R1BmMENwVk9McnI3OUdjSEF3NnVycU1IUG1URmhZV09EdzRjTVlPM2FzL01ka1kyT0RNV1BHb0thbUJ1SGg0Umd4WWdTQ2dvSlFWRlNFaVJNbll2UG16WEkvUVU1T0RqdzhQTEJzMlRJc1c3WU1sWldWbUQ1OU9ueDlmUkVhR29xaW9pSjg4Y1VYbURKbGlzRkRYOCtlUFl2cjE2OWo1TWlSQnExbmJXMk5oSVFFQkFVRlllWEtsWWlPanNZNzc3eURnSUFBckZxMUN1UEhqMGRsWlNVT0hUcUVkOTk5dDhVajZ1WTRPVG5Cejg4UGE5ZXVoUkFDYm01dXVIRGhBcTVldllxWk0yZnF2WjNVMUZTOC9QTExjSEZ4d2VuVHA2RlVLdUhvNk5pa3Z5Y3BLUWxWVlZVWU9YSWtybDI3QnFEK0ExU2ZPdlJwdHZMMDlJU0hod2NXTFZxRWlJZ0lDQ0d3WWNNR2VIcDZ3dFBURXhxTkJtRmhZWmc3ZDY3OCsyOXM5ZXJWR0QxNk5LeXRyWkdmbjY4MTNOWFIwUkVuVHB5QXA2Y25IQjBkOWZxNWpCOC9IaUVoSWNqS3lzS29VYU9RbTV1TGZmdjJhUzBURUJDQURSczJ3TVhGQlFNR0RNRE5temR4NU1nUnJGNjlHb0IrelZhT2pvNU5hakkzTjRlOXZYMlQvaHQ2T2hnZVJxQnI2SzFDb2NEdTNidFJXbHFLUjU2R2NRQUFCOUJKUkVGVTNyMTdZK2pRb2RpK2ZUdkt5c293Yjk0OHZQNzY2d0NBMDZkUHkrc0lJUkFURXdNYkd4dTU2Y3ZlM2g3QndjR0lpSWpBN3QyN1lXdHJpNk5IaitMdHQ5OEdVRC9VY2Q2OGVlalhyNS9jTWQyeFkwZms1dVppL3Z6NWlJbUphZEtuOERDZmYvNDVjbkp5REE0UG9MNjVKVFkyRnJObno0YXJxeXRDUWtLd1pzMGFiTnEwQ1ZsWldlamN1VE44ZlgwZitlcnREei84RUhGeGNWaStmRGtBb0h2MzdnWmZCNlBSYUxCMDZWSlVWRlNnUjQ4ZVNFaElRS2RPblZCVVZDUXZjL0hpUmZtRGMrTEVpZkwwcmwyN0lpTWo0N0hVSVVrU0VoTVRzVzdkT3N5Wk13Y0FNR2pRSUVSR1JrS1NKQlFVRkNBM043ZlpLOEJ2M3J5SldiTm1RYUZRUUtWU1lkV3FWZks4c0xBd3JGeTVFak5tek1DT0hUdjBHaUx1N2UyTnFLZ29wS1NrWU0yYU5lalRwdzlDUTBNUkhSMHRMek54NGtUY3ZYc1hPM2JzUUZKU0VseGNYT1QzSXoyNzJ1d1ZWbTQ5UGIxTXpNelBiZCtTaE5lSEdEYWs5V21wcnE3R29FR0RrSldWMWVUSXE2cXFDaUVoSVpneVpRcUdEeDh1VDIrNFNEQXhNUkh4OGZINDhjY2ZzWFhyVnEzbUp5RUU1c3laQTdWYWpjREFRQ3hkdWhTSERoMUNkWFUxeG84Zmo1S1NFblRwMGdWMWRYWFFhRFRRYURRUVF1RHUzYnRRcVZSSVNFalF1MjlFbzlHZ3BxYkc0RTV6ZWpJT0hqeUk3Nzc3RG5GeGNjWXVwVjByTHI2TmlLakYrT2JFOTBjdS8rL3BVY2F1NTBuZ21ZY1JLWlZLQkFRRVlOS2tTWExIYW9QcTZtb01IRGhRUHVQUXhjcktDc25KeVUzNkxTUkp3b29WSzVDZG5ZMWV2WHBoL3Z6NXNMUzBoS1dsSldKalkrSGc0QUJyYTJ0WVdGakF3c0pDN2l2UmFEU0lpNHREY1hHeDNzMUV2MmUwRlQwNVo4K2VoYSt2cjdITG9IYUFaeDVFUkk4Wnp6eUkycEhJeUVpZEYxQXVXTEFBL3Y3K1JxaUlxUFZpZUJEZFo4anRTb2phTytQZklwT0lpSjQ1REE4aUlqSVl3NE9JaUF6RzhDQWlJb014UElpSXlHQU1EeUlpTWxpYkRRKzFpYWthQURSMWh0MGxsSWpvVVFrSUNJMEdRaEoxTFMvOWJHcXo0UUcxcGtKQWxCZmZ2bVBzU29pb25hbXRWYU9zdkJ3UVVtSExTeitiMm14NEtEV29rWUNicDMvUy9heHBJcUlucGV6ZVBSUmMrZ1dReE04dEwvMXNhck5YbU5mV2xwU2FLRHYvejRITVE5My9ZN0NQaVpmSFMraGdaUVVURXhOamwwWkViWkFRQXRVMU5iaFRVb0tFalIvajNyM3lHM1hRL01YWWRUMHBiZmJHaUFEZytsTHYzcVpRckRjM014dnU1ZVdCenM4OUJ6T3pOcHVYUkdSRVFpTlFYbEdCcTlldTQ4clZhNzhKU1lxV0trdTJYYjU4dWNyWXRUMEpiVG84QUVodWJyMXRZWWtRQlJUZWtJUVRJT24vcENOcXp5UVRDUjNxNmtRRkZCSkhYVkNMQkNRQjRMWUVjVU9veFpZcjV1cHpPSCsrcHNVVmlhanQ2TldybDcxS3BVcjM5UFIwTTNZdFJLMVJtKzB3SjNvVUZoWVdQUUM4bzFRcW16NEluSWdZSGtTNktCU0txWklrS1RVYVRZQ3hheUZxalJnZVJEb29GSW8vM1AvLy94aTdGcUxXaU9GQjlBQ1ZTdVVyaE9na2hBQUFGNVZLTmN6WU5SRzFOZ3dQb3FhbU5QNUdDQkZpckVLSVdpdUdCMUVqZmZyMCtUY0FyeldlSmttU3ovM3BSSFFmdzRPb0VVbVNCZ053dlA5MXcyUmJTWklHR2Ewb29sYUk0VUgwTHlZS2hlSlZTWkpzSHBodXBWQW8rZ0V3TTBaUlJLMFJ3NFBvdnI1OSszWUVNRWdJOGVBTjBCUUFCbmw2ZW5ZMlFsbEVyUkxEZytnK2hVSmhMMG1TQ3ZoWGsxV2ovMVZLcGRMUmVOVVJ0UzRNRDZMN05CcU5INENPemN6dUtJUmd2d2ZSZlF3UG92c2tTWHJ2L3Y4UFRnY0FLQlNLR1UrL0txTFdxYTNmVlpmb2QxR3BWSjZTSk9VS0lYeE9uVHIxZDJQWFE5VGE4TXlEaUlnTXh2QWdJaUtETVR5SWlNaGdEQThpSWpJWXc0T29FU0dFc3hEQ1pjS0VDUTcyOXZidzkvZTNGMEs0UFBEdndZc0lpWWlvUFJOQ3FFWEwrR2hhYXZkNDVrRkVSQVpqZUJBUmtjRVlIa1JFWkRDR0IxRUxJaU1qNGV2cmErd3lpRm9WaGdmUlE1dzlleGJIang4M2RobEVyUTdEZzZnWmRYVjErT2lqaitEdjcyL3NVb2hhSFlZSFVUTjI3OTZOamgwN1lzU0lFY1l1aGFqVllYZ1E2WkNmbjQ5dDI3WWhLaXJLMktVUXRVb01ENklIVkZaV1l2SGl4WmcrZlRxNmQrOXU3SEtJV2lXR0I5RURsaTlmRGtkSFJ3UUZCUm03RktKV2l3K0RJbXJrMnJWcjZyRmp4NXBJa2lRL1FWQUlBU0VFRkFvRjNuLy9mYno3N3J0ZEpVbTZhdVJTaVl5SzRVSFVTRTFOamZyS2xTdGFOejc4NFljZnNIbnpacVNscGFGejU4NndzN05qZUZDN1oycnNBb2hhRXpNek0vVHMyVk5yMnVYTGw2RlFLSnBNSjJyUDJPZEJSRVJFOUNoNFMzWWkvZkRNZzRpSURNYndJQ0lpSW5vVURZK2hYYjE2dGUrSUVTTkVaR1RrbTN3TUxWRlRIRzFGMUlna1NiY0FRS1ZTMlVxU2hMLzk3VzlGa2lUZE5IWmRSSzBObTYySWlNaGdEQThpSWpJWXc0T0lpQXpHOENBaUlvTXhQSWlJeUdBTUR5SWlNaGpEZzRpSURNYndJQ0lpZ3pFOGlJaklZQXdQSWlJeUdNT0RpSWdNeHZBZ0lpS0RNVHlJaU1oZ0RBOGlJaklZdzRPSWlBekc4Q0FpSW9NeFBJaDBFRUxVQXJpbVZxdHJqRjBMRVJFOU94UXZ2dmhpUi9BQWk0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TRC8vSCtXdFhFSEV4YmkvQUFBQUFFbEZUa1N1UW1DQyIsCgkiVGhlbWUiIDogIiIsCgkiVHlwZSIgOiAiZmxvdyIsCgkiVmVyc2lvbiIgOiAiMTciCn0K"/>
    </extobj>
  </extobjs>
</s:customData>
</file>

<file path=customXml/itemProps1.xml><?xml version="1.0" encoding="utf-8"?>
<ds:datastoreItem xmlns:ds="http://schemas.openxmlformats.org/officeDocument/2006/customXml" ds:itemID="{205E360D-08FE-434D-A4ED-9B75363B00B8}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3897</TotalTime>
  <Words>978</Words>
  <Application>Microsoft Office PowerPoint</Application>
  <PresentationFormat>宽屏</PresentationFormat>
  <Paragraphs>122</Paragraphs>
  <Slides>18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等线</vt:lpstr>
      <vt:lpstr>楷体</vt:lpstr>
      <vt:lpstr>宋体</vt:lpstr>
      <vt:lpstr>微软雅黑</vt:lpstr>
      <vt:lpstr>微软雅黑</vt:lpstr>
      <vt:lpstr>Arial</vt:lpstr>
      <vt:lpstr>Calibri</vt:lpstr>
      <vt:lpstr>Times New Roman</vt:lpstr>
      <vt:lpstr>Office 主题</vt:lpstr>
      <vt:lpstr>PowerPoint 演示文稿</vt:lpstr>
      <vt:lpstr>PowerPoint 演示文稿</vt:lpstr>
      <vt:lpstr>研究背景</vt:lpstr>
      <vt:lpstr>研究背景</vt:lpstr>
      <vt:lpstr>研究背景</vt:lpstr>
      <vt:lpstr>研究背景</vt:lpstr>
      <vt:lpstr>研究背景---情感模型</vt:lpstr>
      <vt:lpstr>研究现状</vt:lpstr>
      <vt:lpstr>研究现状---早期研究</vt:lpstr>
      <vt:lpstr>研究现状---提示词工程</vt:lpstr>
      <vt:lpstr>研究现状---SFT</vt:lpstr>
      <vt:lpstr>研究现状---多LLM框架</vt:lpstr>
      <vt:lpstr>研究方法</vt:lpstr>
      <vt:lpstr>研究方法---新数据集的构建</vt:lpstr>
      <vt:lpstr>研究方法---基于agent记忆的情感识别框架</vt:lpstr>
      <vt:lpstr>时间规划</vt:lpstr>
      <vt:lpstr>时间规划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Ryan Lee</dc:creator>
  <cp:lastModifiedBy>垚 徐</cp:lastModifiedBy>
  <cp:revision>95</cp:revision>
  <dcterms:created xsi:type="dcterms:W3CDTF">2014-04-01T11:22:00Z</dcterms:created>
  <dcterms:modified xsi:type="dcterms:W3CDTF">2025-12-17T02:42:38Z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CEC7FB15D3DB403093050E58496336EB_13</vt:lpwstr>
  </property>
  <property fmtid="{D5CDD505-2E9C-101B-9397-08002B2CF9AE}" pid="3" name="KSOProductBuildVer">
    <vt:lpwstr>2052-12.1.0.15712</vt:lpwstr>
  </property>
</Properties>
</file>